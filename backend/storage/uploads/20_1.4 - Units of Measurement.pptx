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342" r:id="rId3"/>
    <p:sldId id="345" r:id="rId4"/>
    <p:sldId id="268" r:id="rId5"/>
    <p:sldId id="269" r:id="rId6"/>
    <p:sldId id="266" r:id="rId7"/>
    <p:sldId id="265" r:id="rId8"/>
    <p:sldId id="305" r:id="rId9"/>
    <p:sldId id="306" r:id="rId10"/>
    <p:sldId id="307" r:id="rId11"/>
    <p:sldId id="312" r:id="rId12"/>
    <p:sldId id="336" r:id="rId13"/>
    <p:sldId id="346" r:id="rId14"/>
    <p:sldId id="347" r:id="rId15"/>
    <p:sldId id="348" r:id="rId16"/>
    <p:sldId id="343" r:id="rId1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0">
          <p15:clr>
            <a:srgbClr val="A4A3A4"/>
          </p15:clr>
        </p15:guide>
        <p15:guide id="2" pos="2592">
          <p15:clr>
            <a:srgbClr val="A4A3A4"/>
          </p15:clr>
        </p15:guide>
        <p15:guide id="3" pos="31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996"/>
    <a:srgbClr val="FF0000"/>
    <a:srgbClr val="0080FF"/>
    <a:srgbClr val="FF6FCF"/>
    <a:srgbClr val="008000"/>
    <a:srgbClr val="FF8000"/>
    <a:srgbClr val="F7F7F7"/>
    <a:srgbClr val="00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0929"/>
  </p:normalViewPr>
  <p:slideViewPr>
    <p:cSldViewPr snapToGrid="0">
      <p:cViewPr varScale="1">
        <p:scale>
          <a:sx n="72" d="100"/>
          <a:sy n="72" d="100"/>
        </p:scale>
        <p:origin x="1350" y="78"/>
      </p:cViewPr>
      <p:guideLst>
        <p:guide orient="horz" pos="1440"/>
        <p:guide pos="2592"/>
        <p:guide pos="31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612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81B3ABE-FA2E-44B8-AFAB-B48E8D6F15A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116C0084-CB8E-4805-B09D-615B859EB83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4F45AD9B-3C1C-4E50-865C-1238985947C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CFE21992-D90B-420D-8F48-95C96BD86CD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0415A697-9A1C-4905-B48E-C1388CB8548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295" name="Rectangle 7">
            <a:extLst>
              <a:ext uri="{FF2B5EF4-FFF2-40B4-BE49-F238E27FC236}">
                <a16:creationId xmlns:a16="http://schemas.microsoft.com/office/drawing/2014/main" id="{97B053D1-76C3-44A7-B1FE-8395FD611A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45BA759-7E56-460B-AD3E-5BE4E76F29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08433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ＭＳ Ｐゴシック" pitchFamily="-65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>
            <a:extLst>
              <a:ext uri="{FF2B5EF4-FFF2-40B4-BE49-F238E27FC236}">
                <a16:creationId xmlns:a16="http://schemas.microsoft.com/office/drawing/2014/main" id="{F71A03AC-F2BF-4786-9E53-E82C97F797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429FF61-1A75-46C7-B33D-2FCD1579F331}" type="slidenum">
              <a:rPr lang="en-US" altLang="en-US" sz="1200" smtClean="0"/>
              <a:pPr/>
              <a:t>1</a:t>
            </a:fld>
            <a:endParaRPr lang="en-US" altLang="en-US" sz="1200"/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50D3AF96-D049-4063-9572-6E993A4A82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D09902F9-8EBE-4255-A5EB-1D0D501B76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908010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B789C1A5-D909-4250-A519-00A04A468C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1484F93-DD04-470A-88C1-0299F81C50D7}" type="slidenum">
              <a:rPr lang="en-US" altLang="en-US" sz="1200" smtClean="0"/>
              <a:pPr/>
              <a:t>4</a:t>
            </a:fld>
            <a:endParaRPr lang="en-US" altLang="en-US" sz="1200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41196163-40B3-491F-9494-D13C21D900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2E1C04F3-C9A1-4D5A-A09D-B63572D3E2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696106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D99753E1-A5FA-4450-AFD9-32D477E2D4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798E1D3-7506-45BE-B272-3C132330AFF3}" type="slidenum">
              <a:rPr lang="en-US" altLang="en-US" sz="1200" smtClean="0"/>
              <a:pPr/>
              <a:t>5</a:t>
            </a:fld>
            <a:endParaRPr lang="en-US" altLang="en-US" sz="120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E6F6987D-D4EB-4C41-82F3-41087A3643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92C9883D-DEF2-4C5C-B2E8-4DE24A38FE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737279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9DB32E09-4DA0-4CC6-B0F6-F988465E55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2556A81-2BF2-449D-AD09-913A2DD8DC31}" type="slidenum">
              <a:rPr lang="en-US" altLang="en-US" sz="1200" smtClean="0"/>
              <a:pPr/>
              <a:t>6</a:t>
            </a:fld>
            <a:endParaRPr lang="en-US" altLang="en-US" sz="1200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9DE30875-26C8-48B5-BFD3-2DC6E4C04B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616302BD-32D2-4589-8077-2564ABC1CA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699243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7517DEA1-9D21-4A3C-826A-606B8C853C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DEFEF0B-7D20-497C-AE56-E8C6D2C59393}" type="slidenum">
              <a:rPr lang="en-US" altLang="en-US" sz="1200" smtClean="0"/>
              <a:pPr/>
              <a:t>7</a:t>
            </a:fld>
            <a:endParaRPr lang="en-US" altLang="en-US" sz="1200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5CB19F4E-D13D-4CA3-B703-D5DD8E8FB3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4D53B8C8-7627-4692-B744-BC573B75FA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149914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AC45CF5F-E52D-43AB-AA9D-F200265500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476CFB5-3A90-43B9-9C01-D4B3535B1AD9}" type="slidenum">
              <a:rPr lang="en-US" altLang="en-US" sz="1200" smtClean="0"/>
              <a:pPr/>
              <a:t>8</a:t>
            </a:fld>
            <a:endParaRPr lang="en-US" altLang="en-US" sz="1200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B51B019A-3212-4ABB-8F7C-F53A29F65D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E0E00923-A7E8-468B-B4FD-CD797DB77B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441772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63EDB523-9AA4-4670-B997-AE44C093A8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6611C12-6317-421E-B3DA-353C5DA007C2}" type="slidenum">
              <a:rPr lang="en-US" altLang="en-US" sz="1200" smtClean="0"/>
              <a:pPr/>
              <a:t>9</a:t>
            </a:fld>
            <a:endParaRPr lang="en-US" altLang="en-US" sz="12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AAD65573-9954-4E5B-AF34-80CD62CDBD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A65BC7E9-8992-473D-9B78-42AAFF247E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820510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98ABADA6-67D1-4EF5-A5C5-7F4EC81699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282B37A-DF04-4000-81EF-209459DA6C05}" type="slidenum">
              <a:rPr lang="en-US" altLang="en-US" sz="1200" smtClean="0"/>
              <a:pPr/>
              <a:t>10</a:t>
            </a:fld>
            <a:endParaRPr lang="en-US" altLang="en-US" sz="120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65997E72-199F-4CDB-A2C5-508C9BB8EC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1C1AE11E-DCB6-47BE-8E1B-59A44A1C8C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049329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12927C45-4194-4A01-8606-325E783D32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E7970F3-F89A-41B8-92E1-88F470E74570}" type="slidenum">
              <a:rPr lang="en-US" altLang="en-US" sz="1200" smtClean="0"/>
              <a:pPr/>
              <a:t>11</a:t>
            </a:fld>
            <a:endParaRPr lang="en-US" altLang="en-US" sz="12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E070F179-6090-4190-8EF5-6ACF1387DA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FA3DE96D-1130-41D1-92C5-52FD1F30B2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58598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366D341E-C952-4B67-BE0C-4917036777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A4DF1B5-7144-49DA-9CAE-60F223BF2363}" type="slidenum">
              <a:rPr lang="en-US" altLang="en-US" sz="1200" smtClean="0"/>
              <a:pPr/>
              <a:t>12</a:t>
            </a:fld>
            <a:endParaRPr lang="en-US" altLang="en-US" sz="12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FDC84283-E5F5-4304-8EF1-1DC664D30E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EC20CFD6-B8E8-463E-BC07-56F4298F58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50518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6CFF1FA-B843-4C44-8990-1BAAF5D021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2CF4B32-00C7-4248-81AD-06CEDBDFA2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43EE96C-30F5-45A5-866B-6D741DB94F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8EDB6B-2572-41B6-B755-EA28E260827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4959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205511F-B01C-46E8-A91D-BB9AA13C63E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0468506-1993-497B-9F5A-2DB0AD0EB72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EA88E08-CA27-45E0-A69C-840384C61D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7642B8-68D5-43D1-843D-F94DF112813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6850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2B76E83-4413-4127-A740-855FDC691A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87FB157-905B-4D4C-9FB2-7B0D69323C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D0C687D-8BFA-4B37-90C1-8C305FABAF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510042-921C-408C-BF83-FDEF8FDFA5A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6308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2068E2-C775-4201-9FEC-5E23964837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BD24DC-8858-45BB-8947-E5ABED3554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11A06F-F24F-4792-B5F0-3F5301EE1E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E991C7-FFB9-4A82-90E8-54E83180AB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8608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2B0E1FE-1A4B-43F6-B058-D1D7D1DA97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ACCD321-989F-4379-99DB-CFFE8D4A9C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28B3591-30A8-4F84-B9FF-74AA95CEF3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ED3012-17BD-4086-BADC-C2CE12154E9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5844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D734A21-AD9E-4208-85EB-670064A947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0C90FB3-FD2F-4ABD-BF2D-5C6D309EA5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07E4259-51D5-4B8D-B95C-DE404D43E5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9193E9-7C2E-4ECA-AF87-D86C6F20A15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145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CD9CB01-CCA8-4F25-8252-44B0CB907F1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F1B38E2-2F44-4D02-9581-030394446F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208296B-CEFA-456D-B945-750535C2E7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A0CEDD-CD0C-4EB4-98CD-217326F972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2736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4EE149-0038-4F73-AE02-519CE93FC6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82DD89-549B-4900-A371-472BF3E936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F50C33-640D-4C9A-B1E4-7BFABF096F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A2D42F-5A40-4E0C-9C44-379CCF6AE0B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7784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B4956D-3804-4513-92A9-DA7B73F380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D83704-7532-431C-9861-49EC25FB72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71FF41-2EFC-4825-9E1C-66B64D5904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F05B35-BA21-4872-BA63-B9187323455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2674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537B89D-E79E-4EE7-AEF0-4E90C19FC5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6DE985A-A01E-4A55-9A27-2B757B187A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1A13B6D-935B-4884-8658-B5C30DDC43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53736B-7EF6-402F-BF73-263B7620C3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9286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228600"/>
            <a:ext cx="19431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28600"/>
            <a:ext cx="56769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9FE239E-31D8-4DE3-9ED2-C0587F699FA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B0B83D8-E37C-49F5-8947-B932298604B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11A5A3E-86F4-4AEA-BC5D-645E946CD5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8B8E79-5111-4E28-BA02-EB0BFF01897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58090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77724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4114800"/>
            <a:ext cx="77724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541331-D5D9-4B0F-BCE7-3DC0C365BC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03F6AD-109B-4024-892E-21C46214981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9B0D29-A9E6-4CD4-9866-70D72BF8E7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22D179-EFD0-494A-873C-62FB768CAB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59564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2BB8FE-183B-4BF9-AA46-3B3C26A0E3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4FF3EF-E134-4191-8073-7E1B96F2FF8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FB6215-F53A-47C6-909B-D9B8DABA2B8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A6DBCA-5355-441C-9564-8A51CEEF78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4497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DE042F-4286-4187-B524-DAEBEA1AF5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2CD24C-D43F-4A00-925C-6FB5C2312F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ECF861-F399-4369-9537-1551570D4C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1583F2-B09D-4BD2-805E-44E80D85D4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34481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77724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14800"/>
            <a:ext cx="77724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9FE1D-86FE-4268-86A4-94E9582254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62BE58-31CB-4A6A-B15A-F2532E5BF8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443E45-832F-4AC6-AB15-B16E09DCC2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73FF7E-654F-475E-95FD-D3DC1B0CC08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5088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917D597-C74B-4D42-B862-5F564FD788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BCD9474-D1BA-4468-9312-892A33013F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4507633-BFB3-4DFF-8639-BB43723A412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066459E-6749-4990-9B03-983ADA38F74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30D026A-BC0B-49DE-95AF-F79579F5111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31BF50A-DE3C-4EB4-A8D5-F472EA8D12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pSp>
        <p:nvGrpSpPr>
          <p:cNvPr id="1031" name="Group 9">
            <a:extLst>
              <a:ext uri="{FF2B5EF4-FFF2-40B4-BE49-F238E27FC236}">
                <a16:creationId xmlns:a16="http://schemas.microsoft.com/office/drawing/2014/main" id="{5E1896D1-AD9F-4CC3-9C5E-212F9B839F8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772400" y="5486400"/>
            <a:ext cx="1371600" cy="1371600"/>
            <a:chOff x="4896" y="3456"/>
            <a:chExt cx="864" cy="864"/>
          </a:xfrm>
        </p:grpSpPr>
        <p:pic>
          <p:nvPicPr>
            <p:cNvPr id="1032" name="Picture 7" descr="spine icon">
              <a:extLst>
                <a:ext uri="{FF2B5EF4-FFF2-40B4-BE49-F238E27FC236}">
                  <a16:creationId xmlns:a16="http://schemas.microsoft.com/office/drawing/2014/main" id="{7142E751-117A-4075-9687-7AF2422B243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Rectangle 8">
              <a:extLst>
                <a:ext uri="{FF2B5EF4-FFF2-40B4-BE49-F238E27FC236}">
                  <a16:creationId xmlns:a16="http://schemas.microsoft.com/office/drawing/2014/main" id="{6E99A919-B759-4DE8-9455-74757754EBC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965" y="3696"/>
              <a:ext cx="726" cy="4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defRPr/>
              </a:pPr>
              <a:r>
                <a:rPr lang="en-US" altLang="en-US" sz="1400">
                  <a:solidFill>
                    <a:srgbClr val="C82E32"/>
                  </a:solidFill>
                  <a:latin typeface="Times New Roman" panose="02020603050405020304" pitchFamily="18" charset="0"/>
                </a:rPr>
                <a:t>Matter</a:t>
              </a:r>
            </a:p>
            <a:p>
              <a:pPr algn="ctr">
                <a:defRPr/>
              </a:pPr>
              <a:r>
                <a:rPr lang="en-US" altLang="en-US" sz="1400">
                  <a:solidFill>
                    <a:srgbClr val="C82E32"/>
                  </a:solidFill>
                  <a:latin typeface="Times New Roman" panose="02020603050405020304" pitchFamily="18" charset="0"/>
                </a:rPr>
                <a:t>And</a:t>
              </a:r>
            </a:p>
            <a:p>
              <a:pPr algn="ctr">
                <a:defRPr/>
              </a:pPr>
              <a:r>
                <a:rPr lang="en-US" altLang="en-US" sz="1400">
                  <a:solidFill>
                    <a:srgbClr val="C82E32"/>
                  </a:solidFill>
                  <a:latin typeface="Times New Roman" panose="02020603050405020304" pitchFamily="18" charset="0"/>
                </a:rPr>
                <a:t>Measurement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C82E3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C82E32"/>
          </a:solidFill>
          <a:latin typeface="Arial" pitchFamily="-65" charset="0"/>
          <a:ea typeface="ＭＳ Ｐゴシック" pitchFamily="-65" charset="-128"/>
          <a:cs typeface="ＭＳ Ｐゴシック" pitchFamily="-65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C82E32"/>
          </a:solidFill>
          <a:latin typeface="Arial" pitchFamily="-65" charset="0"/>
          <a:ea typeface="ＭＳ Ｐゴシック" pitchFamily="-65" charset="-128"/>
          <a:cs typeface="ＭＳ Ｐゴシック" pitchFamily="-65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C82E32"/>
          </a:solidFill>
          <a:latin typeface="Arial" pitchFamily="-65" charset="0"/>
          <a:ea typeface="ＭＳ Ｐゴシック" pitchFamily="-65" charset="-128"/>
          <a:cs typeface="ＭＳ Ｐゴシック" pitchFamily="-65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C82E32"/>
          </a:solidFill>
          <a:latin typeface="Arial" pitchFamily="-65" charset="0"/>
          <a:ea typeface="ＭＳ Ｐゴシック" pitchFamily="-65" charset="-128"/>
          <a:cs typeface="ＭＳ Ｐゴシック" pitchFamily="-65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C82E32"/>
          </a:solidFill>
          <a:latin typeface="Arial" pitchFamily="-65" charset="0"/>
          <a:ea typeface="ＭＳ Ｐゴシック" pitchFamily="-65" charset="-128"/>
          <a:cs typeface="ＭＳ Ｐゴシック" pitchFamily="-65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C82E32"/>
          </a:solidFill>
          <a:latin typeface="Arial" pitchFamily="-65" charset="0"/>
          <a:ea typeface="ＭＳ Ｐゴシック" pitchFamily="-65" charset="-128"/>
          <a:cs typeface="ＭＳ Ｐゴシック" pitchFamily="-65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C82E32"/>
          </a:solidFill>
          <a:latin typeface="Arial" pitchFamily="-65" charset="0"/>
          <a:ea typeface="ＭＳ Ｐゴシック" pitchFamily="-65" charset="-128"/>
          <a:cs typeface="ＭＳ Ｐゴシック" pitchFamily="-65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C82E32"/>
          </a:solidFill>
          <a:latin typeface="Arial" pitchFamily="-65" charset="0"/>
          <a:ea typeface="ＭＳ Ｐゴシック" pitchFamily="-65" charset="-128"/>
          <a:cs typeface="ＭＳ Ｐゴシック" pitchFamily="-65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rgbClr val="C82E3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C82E3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C82E32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C82E32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C82E32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C82E32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C82E32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C82E32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C82E32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0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3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oleObject" Target="../embeddings/oleObject12.bin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2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9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21.w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42D82CE-85D5-4765-8DD6-5650DC08C47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52400" y="2286000"/>
            <a:ext cx="8839200" cy="1143000"/>
          </a:xfrm>
        </p:spPr>
        <p:txBody>
          <a:bodyPr/>
          <a:lstStyle/>
          <a:p>
            <a:pPr eaLnBrk="1" hangingPunct="1"/>
            <a:r>
              <a:rPr lang="en-US" altLang="en-US" sz="5400"/>
              <a:t>Chapter 1</a:t>
            </a:r>
            <a:br>
              <a:rPr lang="en-US" altLang="en-US" sz="5400"/>
            </a:br>
            <a:r>
              <a:rPr lang="en-US" altLang="en-US" sz="5400"/>
              <a:t>1.4 Units of Measurement</a:t>
            </a:r>
            <a:endParaRPr lang="en-US" altLang="en-US"/>
          </a:p>
        </p:txBody>
      </p:sp>
      <p:sp>
        <p:nvSpPr>
          <p:cNvPr id="3075" name="Text Box 4">
            <a:extLst>
              <a:ext uri="{FF2B5EF4-FFF2-40B4-BE49-F238E27FC236}">
                <a16:creationId xmlns:a16="http://schemas.microsoft.com/office/drawing/2014/main" id="{DD94D7D1-AABE-4F3F-B533-D9E326E739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4325" y="76200"/>
            <a:ext cx="6340475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i="1"/>
              <a:t>Chemistry, The Central Science</a:t>
            </a:r>
            <a:r>
              <a:rPr lang="en-US" altLang="en-US" sz="2400"/>
              <a:t>, 10th edition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/>
              <a:t>Theodore L. Brown; H. Eugene LeMay, Jr.; and Bruce E. Bursten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8E58C-70B8-412F-8D9A-0A87BDC7DA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15938" y="1665288"/>
            <a:ext cx="8229600" cy="4633912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CA" altLang="en-US" dirty="0"/>
              <a:t>By the end of class you will be able to…</a:t>
            </a:r>
          </a:p>
          <a:p>
            <a:pPr marL="0" indent="0">
              <a:buFontTx/>
              <a:buNone/>
            </a:pPr>
            <a:endParaRPr lang="en-CA" altLang="en-US" sz="1600" dirty="0"/>
          </a:p>
          <a:p>
            <a:pPr marL="514350" indent="-514350">
              <a:buFont typeface="+mj-lt"/>
              <a:buAutoNum type="arabicPeriod"/>
            </a:pPr>
            <a:r>
              <a:rPr lang="en-CA" altLang="en-US" dirty="0"/>
              <a:t> Identify SI units.</a:t>
            </a:r>
          </a:p>
          <a:p>
            <a:pPr marL="514350" indent="-514350">
              <a:buFont typeface="+mj-lt"/>
              <a:buAutoNum type="arabicPeriod"/>
            </a:pPr>
            <a:r>
              <a:rPr lang="en-CA" altLang="en-US" dirty="0"/>
              <a:t> Identify the uncertainty in measurements.</a:t>
            </a:r>
          </a:p>
          <a:p>
            <a:pPr marL="514350" indent="-514350">
              <a:buFont typeface="+mj-lt"/>
              <a:buAutoNum type="arabicPeriod"/>
            </a:pPr>
            <a:r>
              <a:rPr lang="en-CA" altLang="en-US" dirty="0"/>
              <a:t> Convert units using dimensional analysis.</a:t>
            </a:r>
          </a:p>
        </p:txBody>
      </p:sp>
      <p:sp>
        <p:nvSpPr>
          <p:cNvPr id="5123" name="WordArt 2" descr="1.5 Five Key Equations for Motion with Uniform Acceleration">
            <a:extLst>
              <a:ext uri="{FF2B5EF4-FFF2-40B4-BE49-F238E27FC236}">
                <a16:creationId xmlns:a16="http://schemas.microsoft.com/office/drawing/2014/main" id="{181391E1-62D7-48BA-9ACA-32EB3801742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88975" y="357188"/>
            <a:ext cx="7881938" cy="635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CA" sz="115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Berlin Sans FB Demi" panose="020E0802020502020306" pitchFamily="34" charset="0"/>
              </a:rPr>
              <a:t>Learning Goals: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64461DB-8C7B-421B-A237-0DCC2C4BD4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Recall: Physical Properties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25134B4B-3686-426A-A9E1-1B51962233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Physical Properties can also be further classified as either </a:t>
            </a:r>
            <a:r>
              <a:rPr lang="en-US" altLang="en-US" b="1"/>
              <a:t>Qualitative</a:t>
            </a:r>
            <a:r>
              <a:rPr lang="en-US" altLang="en-US"/>
              <a:t> (can be described) Ex: colour, texture, taste, smell</a:t>
            </a:r>
          </a:p>
          <a:p>
            <a:pPr eaLnBrk="1" hangingPunct="1"/>
            <a:r>
              <a:rPr lang="en-US" altLang="en-US"/>
              <a:t>or </a:t>
            </a:r>
            <a:r>
              <a:rPr lang="en-US" altLang="en-US" b="1"/>
              <a:t>Quantitative</a:t>
            </a:r>
            <a:r>
              <a:rPr lang="en-US" altLang="en-US"/>
              <a:t> (can be measured numerically) Ex: melting/boiling points, density, viscosity.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C0F2928-C1A1-4383-81A9-87CBE85ABA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SI Units</a:t>
            </a:r>
            <a:br>
              <a:rPr lang="en-US" altLang="en-US"/>
            </a:br>
            <a:r>
              <a:rPr lang="en-US" altLang="en-US">
                <a:solidFill>
                  <a:srgbClr val="000080"/>
                </a:solidFill>
              </a:rPr>
              <a:t>Learn! symbols and all!</a:t>
            </a:r>
            <a:endParaRPr lang="en-US" altLang="en-US"/>
          </a:p>
        </p:txBody>
      </p:sp>
      <p:sp>
        <p:nvSpPr>
          <p:cNvPr id="30724" name="Rectangle 4">
            <a:extLst>
              <a:ext uri="{FF2B5EF4-FFF2-40B4-BE49-F238E27FC236}">
                <a16:creationId xmlns:a16="http://schemas.microsoft.com/office/drawing/2014/main" id="{32100D7D-DEF7-444C-9A82-734142172731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558800" y="5384800"/>
            <a:ext cx="7772400" cy="1219200"/>
          </a:xfrm>
        </p:spPr>
        <p:txBody>
          <a:bodyPr/>
          <a:lstStyle/>
          <a:p>
            <a:pPr eaLnBrk="1" hangingPunct="1"/>
            <a:r>
              <a:rPr lang="en-US" altLang="en-US" sz="2800"/>
              <a:t>SI stands for </a:t>
            </a:r>
            <a:r>
              <a:rPr lang="en-US" altLang="en-US" sz="2800" i="1"/>
              <a:t>Système International d’Unités</a:t>
            </a:r>
          </a:p>
          <a:p>
            <a:pPr eaLnBrk="1" hangingPunct="1"/>
            <a:r>
              <a:rPr lang="en-US" altLang="en-US" sz="2800"/>
              <a:t>Uses a different base unit for each quantity</a:t>
            </a:r>
            <a:endParaRPr lang="en-US" altLang="en-US" sz="2800" i="1"/>
          </a:p>
        </p:txBody>
      </p:sp>
      <p:pic>
        <p:nvPicPr>
          <p:cNvPr id="7172" name="Picture 15" descr="01_T04">
            <a:extLst>
              <a:ext uri="{FF2B5EF4-FFF2-40B4-BE49-F238E27FC236}">
                <a16:creationId xmlns:a16="http://schemas.microsoft.com/office/drawing/2014/main" id="{846E79AC-FB24-4DBE-B0CC-E190E2770E4F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66" b="5345"/>
          <a:stretch>
            <a:fillRect/>
          </a:stretch>
        </p:blipFill>
        <p:spPr>
          <a:xfrm>
            <a:off x="420688" y="1511300"/>
            <a:ext cx="8310562" cy="3617913"/>
          </a:xfr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07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E9EE5186-3D6D-4801-9063-8538154553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00088" y="338138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b="1"/>
              <a:t>Metric System</a:t>
            </a:r>
            <a:br>
              <a:rPr lang="en-US" altLang="en-US" b="1"/>
            </a:br>
            <a:endParaRPr lang="en-US" altLang="en-US" b="1"/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CFB38F18-9B5F-49BB-AB07-0D4EAF2F240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0263" y="1112838"/>
            <a:ext cx="7772400" cy="1447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800"/>
              <a:t>	Prefixes convert the base units into units that are appropriate for the item being measured.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800"/>
              <a:t>	</a:t>
            </a:r>
            <a:r>
              <a:rPr lang="en-US" altLang="en-US" sz="2800" b="1">
                <a:solidFill>
                  <a:srgbClr val="001996"/>
                </a:solidFill>
              </a:rPr>
              <a:t>Learn!  More important than it looks!!!</a:t>
            </a:r>
          </a:p>
        </p:txBody>
      </p:sp>
      <p:pic>
        <p:nvPicPr>
          <p:cNvPr id="9220" name="Picture 7" descr="01_T05">
            <a:extLst>
              <a:ext uri="{FF2B5EF4-FFF2-40B4-BE49-F238E27FC236}">
                <a16:creationId xmlns:a16="http://schemas.microsoft.com/office/drawing/2014/main" id="{EB3BD5C2-E968-40A4-B3C8-76F57C64097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31" b="4947"/>
          <a:stretch>
            <a:fillRect/>
          </a:stretch>
        </p:blipFill>
        <p:spPr>
          <a:xfrm>
            <a:off x="36513" y="2560638"/>
            <a:ext cx="9107487" cy="3892550"/>
          </a:xfr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4378F89-9C1C-4156-ADFC-DB709D0C8B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Volume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E6A0A246-6AAE-4522-9103-A8566AFBA2F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981200"/>
            <a:ext cx="4343400" cy="4114800"/>
          </a:xfrm>
        </p:spPr>
        <p:txBody>
          <a:bodyPr/>
          <a:lstStyle/>
          <a:p>
            <a:pPr eaLnBrk="1" hangingPunct="1"/>
            <a:r>
              <a:rPr lang="en-US" altLang="en-US" sz="2800"/>
              <a:t>The most commonly used metric units for volume are the liter (L) and the milliliter (mL).</a:t>
            </a:r>
            <a:endParaRPr lang="en-US" altLang="en-US" sz="2800">
              <a:solidFill>
                <a:schemeClr val="accent2"/>
              </a:solidFill>
            </a:endParaRPr>
          </a:p>
          <a:p>
            <a:pPr lvl="1" eaLnBrk="1" hangingPunct="1">
              <a:buFont typeface="Arial" panose="020B0604020202020204" pitchFamily="34" charset="0"/>
              <a:buChar char="□"/>
            </a:pPr>
            <a:r>
              <a:rPr lang="en-US" altLang="en-US" sz="2400"/>
              <a:t>A liter is a cube 1 dm (10 cm) long on each side.</a:t>
            </a:r>
          </a:p>
          <a:p>
            <a:pPr lvl="1" eaLnBrk="1" hangingPunct="1">
              <a:buFont typeface="Arial" panose="020B0604020202020204" pitchFamily="34" charset="0"/>
              <a:buChar char="□"/>
            </a:pPr>
            <a:r>
              <a:rPr lang="en-US" altLang="en-US" sz="2400"/>
              <a:t>A milliliter is a cube 1 cm long on each side.</a:t>
            </a:r>
          </a:p>
        </p:txBody>
      </p:sp>
      <p:pic>
        <p:nvPicPr>
          <p:cNvPr id="11268" name="Picture 7" descr="01_19">
            <a:extLst>
              <a:ext uri="{FF2B5EF4-FFF2-40B4-BE49-F238E27FC236}">
                <a16:creationId xmlns:a16="http://schemas.microsoft.com/office/drawing/2014/main" id="{D2624010-389E-44EF-9C49-630696E684B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60"/>
          <a:stretch>
            <a:fillRect/>
          </a:stretch>
        </p:blipFill>
        <p:spPr>
          <a:xfrm>
            <a:off x="5105400" y="1295400"/>
            <a:ext cx="3154363" cy="4576763"/>
          </a:xfr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7" descr="01_18">
            <a:extLst>
              <a:ext uri="{FF2B5EF4-FFF2-40B4-BE49-F238E27FC236}">
                <a16:creationId xmlns:a16="http://schemas.microsoft.com/office/drawing/2014/main" id="{65CBFB48-C799-4596-A266-4ABDAE0FF0BD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44"/>
          <a:stretch>
            <a:fillRect/>
          </a:stretch>
        </p:blipFill>
        <p:spPr>
          <a:xfrm>
            <a:off x="393700" y="558800"/>
            <a:ext cx="7539038" cy="4992688"/>
          </a:xfrm>
        </p:spPr>
      </p:pic>
      <p:sp>
        <p:nvSpPr>
          <p:cNvPr id="13315" name="Rectangle 2">
            <a:extLst>
              <a:ext uri="{FF2B5EF4-FFF2-40B4-BE49-F238E27FC236}">
                <a16:creationId xmlns:a16="http://schemas.microsoft.com/office/drawing/2014/main" id="{25202FA2-BF4B-4584-8EF9-AFB1DCCFE2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3900" y="-254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008000"/>
                </a:solidFill>
                <a:latin typeface="Bernard MT Condensed" panose="02050806060905020404" pitchFamily="18" charset="0"/>
              </a:rPr>
              <a:t>Temperature:</a:t>
            </a:r>
          </a:p>
        </p:txBody>
      </p:sp>
      <p:sp>
        <p:nvSpPr>
          <p:cNvPr id="60420" name="Rectangle 4">
            <a:extLst>
              <a:ext uri="{FF2B5EF4-FFF2-40B4-BE49-F238E27FC236}">
                <a16:creationId xmlns:a16="http://schemas.microsoft.com/office/drawing/2014/main" id="{8C3578E6-E026-4F0B-BC2A-238B2E19BBEE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0" y="5435600"/>
            <a:ext cx="8724900" cy="4114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en-US" sz="2800"/>
              <a:t>	proportional to the average kinetic energy of the particles in a sample.</a:t>
            </a:r>
          </a:p>
          <a:p>
            <a:pPr eaLnBrk="1" hangingPunct="1">
              <a:buFontTx/>
              <a:buNone/>
            </a:pPr>
            <a:r>
              <a:rPr lang="en-US" altLang="en-US" sz="2800"/>
              <a:t>	K.E. = 1/2mv</a:t>
            </a:r>
            <a:r>
              <a:rPr lang="en-US" altLang="en-US" sz="2800" baseline="30000"/>
              <a:t>2</a:t>
            </a:r>
            <a:endParaRPr lang="en-US" altLang="en-US" sz="280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B428D4CB-9F5F-4AB5-A569-3B8D049AFD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Temperature</a:t>
            </a:r>
          </a:p>
        </p:txBody>
      </p:sp>
      <p:pic>
        <p:nvPicPr>
          <p:cNvPr id="15363" name="Picture 10" descr="celsius">
            <a:extLst>
              <a:ext uri="{FF2B5EF4-FFF2-40B4-BE49-F238E27FC236}">
                <a16:creationId xmlns:a16="http://schemas.microsoft.com/office/drawing/2014/main" id="{D60AFDEF-D382-4FE8-971C-31877A5E4179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344613"/>
            <a:ext cx="5924550" cy="4086225"/>
          </a:xfrm>
        </p:spPr>
      </p:pic>
      <p:sp>
        <p:nvSpPr>
          <p:cNvPr id="62468" name="Rectangle 3">
            <a:extLst>
              <a:ext uri="{FF2B5EF4-FFF2-40B4-BE49-F238E27FC236}">
                <a16:creationId xmlns:a16="http://schemas.microsoft.com/office/drawing/2014/main" id="{E5442160-8626-4AAE-8A32-A804E5E5EBF8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876800" y="1435100"/>
            <a:ext cx="4267200" cy="5029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In scientific measurements, the Celsius and Kelvin scales are most often used.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The Celsius scale is based on the properties of water.</a:t>
            </a: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□"/>
            </a:pPr>
            <a:r>
              <a:rPr lang="en-US" altLang="en-US" sz="2400"/>
              <a:t>0</a:t>
            </a:r>
            <a:r>
              <a:rPr lang="en-US" altLang="en-US" sz="2400">
                <a:sym typeface="Symbol" panose="05050102010706020507" pitchFamily="18" charset="2"/>
              </a:rPr>
              <a:t>C is the freezing point of water.</a:t>
            </a: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□"/>
            </a:pPr>
            <a:r>
              <a:rPr lang="en-US" altLang="en-US" sz="2400"/>
              <a:t>100</a:t>
            </a:r>
            <a:r>
              <a:rPr lang="en-US" altLang="en-US" sz="2400">
                <a:sym typeface="Symbol" panose="05050102010706020507" pitchFamily="18" charset="2"/>
              </a:rPr>
              <a:t>C is the boiling point of water.</a:t>
            </a:r>
            <a:endParaRPr lang="en-US" altLang="en-US" sz="2400">
              <a:solidFill>
                <a:schemeClr val="accent2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24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24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24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8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1CA44DD0-A386-4208-83A5-9435135E7A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Temperature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95D9FF04-1636-4415-BA92-6260D62EC505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5029200" y="1905000"/>
            <a:ext cx="38100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The Kelvin is the SI unit of temperature.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It is based on the properties of gases.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>
                <a:solidFill>
                  <a:srgbClr val="001996"/>
                </a:solidFill>
              </a:rPr>
              <a:t>0 K = 0 K.E.</a:t>
            </a:r>
            <a:endParaRPr lang="en-US" altLang="en-US" sz="2800"/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There are no negative Kelvin temperatures.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K = </a:t>
            </a:r>
            <a:r>
              <a:rPr lang="en-US" altLang="en-US" sz="2800">
                <a:sym typeface="Symbol" panose="05050102010706020507" pitchFamily="18" charset="2"/>
              </a:rPr>
              <a:t>C + 273.15</a:t>
            </a:r>
            <a:endParaRPr lang="en-US" altLang="en-US" sz="2800"/>
          </a:p>
        </p:txBody>
      </p:sp>
      <p:pic>
        <p:nvPicPr>
          <p:cNvPr id="17412" name="Picture 9" descr="kelvin">
            <a:extLst>
              <a:ext uri="{FF2B5EF4-FFF2-40B4-BE49-F238E27FC236}">
                <a16:creationId xmlns:a16="http://schemas.microsoft.com/office/drawing/2014/main" id="{D8CC5C38-E00B-4C90-AF0D-A6A14BB7BEC9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2588" y="2284413"/>
            <a:ext cx="4479925" cy="3090862"/>
          </a:xfrm>
        </p:spPr>
      </p:pic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C496CAC2-21A5-4FA3-9689-BF5378C9C6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Temperature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F4428D58-72F1-48BD-96C4-339DE411ACFD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953000" y="1828800"/>
            <a:ext cx="3810000" cy="4114800"/>
          </a:xfrm>
        </p:spPr>
        <p:txBody>
          <a:bodyPr/>
          <a:lstStyle/>
          <a:p>
            <a:pPr eaLnBrk="1" hangingPunct="1"/>
            <a:r>
              <a:rPr lang="en-US" altLang="en-US" sz="2800"/>
              <a:t>The Fahrenheit scale is not used in scientific measurements.</a:t>
            </a:r>
          </a:p>
          <a:p>
            <a:pPr eaLnBrk="1" hangingPunct="1"/>
            <a:r>
              <a:rPr lang="en-US" altLang="en-US" sz="2800">
                <a:sym typeface="Symbol" panose="05050102010706020507" pitchFamily="18" charset="2"/>
              </a:rPr>
              <a:t>F = 9/5(C) + 32</a:t>
            </a:r>
          </a:p>
          <a:p>
            <a:pPr eaLnBrk="1" hangingPunct="1"/>
            <a:r>
              <a:rPr lang="en-US" altLang="en-US" sz="2800">
                <a:sym typeface="Symbol" panose="05050102010706020507" pitchFamily="18" charset="2"/>
              </a:rPr>
              <a:t>C = 5/9(F) </a:t>
            </a:r>
            <a:r>
              <a:rPr lang="en-US" altLang="en-US" sz="2800">
                <a:cs typeface="Arial" panose="020B0604020202020204" pitchFamily="34" charset="0"/>
                <a:sym typeface="Symbol" panose="05050102010706020507" pitchFamily="18" charset="2"/>
              </a:rPr>
              <a:t>−</a:t>
            </a:r>
            <a:r>
              <a:rPr lang="en-US" altLang="en-US" sz="2800">
                <a:sym typeface="Symbol" panose="05050102010706020507" pitchFamily="18" charset="2"/>
              </a:rPr>
              <a:t> 32</a:t>
            </a:r>
            <a:endParaRPr lang="en-US" altLang="en-US" sz="2800"/>
          </a:p>
        </p:txBody>
      </p:sp>
      <p:pic>
        <p:nvPicPr>
          <p:cNvPr id="19460" name="Picture 7" descr="fahrenheit">
            <a:extLst>
              <a:ext uri="{FF2B5EF4-FFF2-40B4-BE49-F238E27FC236}">
                <a16:creationId xmlns:a16="http://schemas.microsoft.com/office/drawing/2014/main" id="{69BAD31D-A266-4D8F-AD8F-49E3E1334F8F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2588" y="2284413"/>
            <a:ext cx="4479925" cy="3090862"/>
          </a:xfrm>
        </p:spPr>
      </p:pic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4FF515F-A09B-4A50-83D2-066C349BF4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Density: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C7776670-EDA4-42CF-BEA6-7D1D2B238A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r>
              <a:rPr lang="en-US" altLang="en-US"/>
              <a:t>	Is a physical property of a substance</a:t>
            </a:r>
          </a:p>
          <a:p>
            <a:pPr algn="ctr" eaLnBrk="1" hangingPunct="1">
              <a:buFontTx/>
              <a:buNone/>
            </a:pPr>
            <a:r>
              <a:rPr lang="en-US" altLang="en-US"/>
              <a:t>Intensive.</a:t>
            </a:r>
          </a:p>
          <a:p>
            <a:pPr eaLnBrk="1" hangingPunct="1"/>
            <a:endParaRPr lang="en-US" altLang="en-US"/>
          </a:p>
        </p:txBody>
      </p:sp>
      <p:grpSp>
        <p:nvGrpSpPr>
          <p:cNvPr id="68612" name="Group 10">
            <a:extLst>
              <a:ext uri="{FF2B5EF4-FFF2-40B4-BE49-F238E27FC236}">
                <a16:creationId xmlns:a16="http://schemas.microsoft.com/office/drawing/2014/main" id="{CB0B1CA8-AE79-403D-ACC8-AA40BAB048C4}"/>
              </a:ext>
            </a:extLst>
          </p:cNvPr>
          <p:cNvGrpSpPr>
            <a:grpSpLocks/>
          </p:cNvGrpSpPr>
          <p:nvPr/>
        </p:nvGrpSpPr>
        <p:grpSpPr bwMode="auto">
          <a:xfrm>
            <a:off x="3586163" y="2819400"/>
            <a:ext cx="1971675" cy="1920875"/>
            <a:chOff x="2310" y="1776"/>
            <a:chExt cx="1242" cy="1210"/>
          </a:xfrm>
        </p:grpSpPr>
        <p:sp>
          <p:nvSpPr>
            <p:cNvPr id="21509" name="Rectangle 6">
              <a:extLst>
                <a:ext uri="{FF2B5EF4-FFF2-40B4-BE49-F238E27FC236}">
                  <a16:creationId xmlns:a16="http://schemas.microsoft.com/office/drawing/2014/main" id="{E4843803-9833-4785-A475-154A6C994C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0" y="2064"/>
              <a:ext cx="663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rgbClr val="C82E32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rgbClr val="C82E32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rgbClr val="C82E32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rgbClr val="C82E32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rgbClr val="C82E32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C82E32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C82E32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C82E32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C82E32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6000" i="1"/>
                <a:t>d</a:t>
              </a:r>
              <a:r>
                <a:rPr lang="en-US" altLang="en-US" sz="6000"/>
                <a:t>=</a:t>
              </a:r>
              <a:endParaRPr lang="en-US" altLang="en-US" sz="6000">
                <a:solidFill>
                  <a:schemeClr val="accent2"/>
                </a:solidFill>
              </a:endParaRPr>
            </a:p>
          </p:txBody>
        </p:sp>
        <p:grpSp>
          <p:nvGrpSpPr>
            <p:cNvPr id="21510" name="Group 9">
              <a:extLst>
                <a:ext uri="{FF2B5EF4-FFF2-40B4-BE49-F238E27FC236}">
                  <a16:creationId xmlns:a16="http://schemas.microsoft.com/office/drawing/2014/main" id="{74F22632-26B2-4CD2-A559-19040A01A3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4" y="1776"/>
              <a:ext cx="528" cy="1210"/>
              <a:chOff x="3664" y="1832"/>
              <a:chExt cx="528" cy="1210"/>
            </a:xfrm>
          </p:grpSpPr>
          <p:sp>
            <p:nvSpPr>
              <p:cNvPr id="21511" name="Rectangle 7">
                <a:extLst>
                  <a:ext uri="{FF2B5EF4-FFF2-40B4-BE49-F238E27FC236}">
                    <a16:creationId xmlns:a16="http://schemas.microsoft.com/office/drawing/2014/main" id="{4C732050-17B5-4A0A-ADE0-16F5AC57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70" y="1832"/>
                <a:ext cx="516" cy="1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rgbClr val="C82E32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rgbClr val="C82E32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rgbClr val="C82E32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rgbClr val="C82E32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rgbClr val="C82E32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C82E32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C82E32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C82E32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C82E32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6000" i="1"/>
                  <a:t>m</a:t>
                </a:r>
                <a:endParaRPr lang="en-US" altLang="en-US" sz="6000">
                  <a:solidFill>
                    <a:schemeClr val="accent2"/>
                  </a:solidFill>
                </a:endParaRPr>
              </a:p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en-US" sz="6000" i="1"/>
                  <a:t>V</a:t>
                </a:r>
                <a:endParaRPr lang="en-US" altLang="en-US" sz="600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21512" name="Line 8">
                <a:extLst>
                  <a:ext uri="{FF2B5EF4-FFF2-40B4-BE49-F238E27FC236}">
                    <a16:creationId xmlns:a16="http://schemas.microsoft.com/office/drawing/2014/main" id="{AAEF7F97-F402-4D11-8918-D711228219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64" y="2432"/>
                <a:ext cx="528" cy="0"/>
              </a:xfrm>
              <a:prstGeom prst="line">
                <a:avLst/>
              </a:prstGeom>
              <a:noFill/>
              <a:ln w="31750">
                <a:solidFill>
                  <a:srgbClr val="C82E3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CA"/>
              </a:p>
            </p:txBody>
          </p:sp>
        </p:grp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1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A8FEA955-33B7-4BAC-BA8E-3B1B1572E4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/>
              <a:t>Density of selected substances</a:t>
            </a:r>
          </a:p>
        </p:txBody>
      </p:sp>
      <p:pic>
        <p:nvPicPr>
          <p:cNvPr id="23555" name="Picture 4" descr="01_T06">
            <a:extLst>
              <a:ext uri="{FF2B5EF4-FFF2-40B4-BE49-F238E27FC236}">
                <a16:creationId xmlns:a16="http://schemas.microsoft.com/office/drawing/2014/main" id="{64B0B539-A727-4728-8708-2997F849501E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95388" y="1968500"/>
            <a:ext cx="6473825" cy="4114800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30DF93-19F6-4004-930A-2F59B3311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1146175"/>
            <a:ext cx="8497888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AutoNum type="alphaLcParenBoth"/>
            </a:pPr>
            <a:r>
              <a:rPr lang="en-US" altLang="en-US" sz="2000">
                <a:solidFill>
                  <a:schemeClr val="tx1"/>
                </a:solidFill>
                <a:latin typeface="Trebuchet MS" panose="020B0603020202020204" pitchFamily="34" charset="0"/>
              </a:rPr>
              <a:t>Calculate the density of mercury if 1.00 × 10</a:t>
            </a:r>
            <a:r>
              <a:rPr lang="en-US" altLang="en-US" sz="2000" baseline="30000">
                <a:solidFill>
                  <a:schemeClr val="tx1"/>
                </a:solidFill>
                <a:latin typeface="Trebuchet MS" panose="020B0603020202020204" pitchFamily="34" charset="0"/>
              </a:rPr>
              <a:t>2</a:t>
            </a:r>
            <a:r>
              <a:rPr lang="en-US" altLang="en-US" sz="2000">
                <a:solidFill>
                  <a:schemeClr val="tx1"/>
                </a:solidFill>
                <a:latin typeface="Trebuchet MS" panose="020B0603020202020204" pitchFamily="34" charset="0"/>
              </a:rPr>
              <a:t> g occupies a volume of 7.36 cm</a:t>
            </a:r>
            <a:r>
              <a:rPr lang="en-US" altLang="en-US" sz="2000" baseline="30000">
                <a:solidFill>
                  <a:schemeClr val="tx1"/>
                </a:solidFill>
                <a:latin typeface="Trebuchet MS" panose="020B0603020202020204" pitchFamily="34" charset="0"/>
              </a:rPr>
              <a:t>3</a:t>
            </a:r>
            <a:r>
              <a:rPr lang="en-US" altLang="en-US" sz="2000">
                <a:solidFill>
                  <a:schemeClr val="tx1"/>
                </a:solidFill>
                <a:latin typeface="Trebuchet MS" panose="020B0603020202020204" pitchFamily="34" charset="0"/>
              </a:rPr>
              <a:t>.</a:t>
            </a:r>
          </a:p>
          <a:p>
            <a:pPr>
              <a:spcBef>
                <a:spcPct val="0"/>
              </a:spcBef>
              <a:buFontTx/>
              <a:buAutoNum type="alphaLcParenBoth"/>
            </a:pPr>
            <a:r>
              <a:rPr lang="en-US" altLang="en-US" sz="2000">
                <a:solidFill>
                  <a:schemeClr val="tx1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Calculate the volume of 65.0 g of liquid methanol (wood alcohol) if its density is 0.791 g/mL.</a:t>
            </a:r>
          </a:p>
          <a:p>
            <a:pPr>
              <a:spcBef>
                <a:spcPct val="0"/>
              </a:spcBef>
              <a:buFontTx/>
              <a:buAutoNum type="alphaLcParenBoth"/>
            </a:pPr>
            <a:r>
              <a:rPr lang="en-US" altLang="en-US" sz="2000">
                <a:solidFill>
                  <a:schemeClr val="tx1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What is the mass in grams of a cube of gold (d = 19.32 g/cm</a:t>
            </a:r>
            <a:r>
              <a:rPr lang="en-US" altLang="en-US" sz="2000" baseline="30000">
                <a:solidFill>
                  <a:schemeClr val="tx1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3</a:t>
            </a:r>
            <a:r>
              <a:rPr lang="en-US" altLang="en-US" sz="2000">
                <a:solidFill>
                  <a:schemeClr val="tx1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) if the length of the cube is 2.00 cm?</a:t>
            </a:r>
            <a:endParaRPr lang="en-CA" altLang="en-US" sz="2000">
              <a:solidFill>
                <a:schemeClr val="tx1"/>
              </a:solidFill>
              <a:latin typeface="Trebuchet MS" panose="020B0603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1450DB-B710-40FC-924C-4C2C0FA367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3350" y="3559175"/>
            <a:ext cx="31321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R: </a:t>
            </a:r>
            <a:r>
              <a:rPr lang="en-US" altLang="en-US" sz="2400">
                <a:solidFill>
                  <a:srgbClr val="FF0000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density, d</a:t>
            </a:r>
            <a:endParaRPr lang="en-CA" altLang="en-US" sz="24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6CA85A-7C97-4451-8BBB-1E3EFD140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125" y="3552825"/>
            <a:ext cx="839787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G:  </a:t>
            </a:r>
            <a:r>
              <a:rPr lang="en-US" altLang="en-US" sz="2400">
                <a:solidFill>
                  <a:srgbClr val="FF0000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m = 1.00 × 10</a:t>
            </a:r>
            <a:r>
              <a:rPr lang="en-US" altLang="en-US" sz="2400" baseline="30000">
                <a:solidFill>
                  <a:srgbClr val="FF0000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2</a:t>
            </a:r>
            <a:r>
              <a:rPr lang="en-US" altLang="en-US" sz="2400">
                <a:solidFill>
                  <a:srgbClr val="FF0000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 g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	v = 7.36 cm</a:t>
            </a:r>
            <a:r>
              <a:rPr lang="en-US" altLang="en-US" sz="2400" baseline="30000">
                <a:solidFill>
                  <a:srgbClr val="FF0000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3</a:t>
            </a:r>
            <a:endParaRPr lang="en-US" altLang="en-US" sz="2400">
              <a:solidFill>
                <a:srgbClr val="FF0000"/>
              </a:solidFill>
              <a:latin typeface="Trebuchet MS" panose="020B0603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0172A1-A7A3-48BA-8CB3-991B593BBE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550" y="4344988"/>
            <a:ext cx="84391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S:  </a:t>
            </a:r>
            <a:endParaRPr lang="en-CA" altLang="en-US" sz="2400">
              <a:solidFill>
                <a:srgbClr val="FF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D39BCE-E2A9-49CE-8CD1-77B7CEC6C310}"/>
              </a:ext>
            </a:extLst>
          </p:cNvPr>
          <p:cNvSpPr/>
          <p:nvPr/>
        </p:nvSpPr>
        <p:spPr>
          <a:xfrm>
            <a:off x="261938" y="303213"/>
            <a:ext cx="8601075" cy="83026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000000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SAMPLE EXERCISE 1.4: Determining Density and Using 				Density to Determine Volume or Mass</a:t>
            </a:r>
            <a:endParaRPr lang="en-US" b="1" dirty="0">
              <a:latin typeface="Trebuchet MS"/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CE03A4-7353-428A-8313-C3E161662D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025" y="3170238"/>
            <a:ext cx="176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CA" altLang="en-US" sz="2400">
                <a:solidFill>
                  <a:schemeClr val="tx1"/>
                </a:solidFill>
              </a:rPr>
              <a:t>(a) 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7B1B1C50-A747-423B-A595-3B0A916809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0638" y="4383088"/>
          <a:ext cx="3125787" cy="1112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3" name="Equation" r:id="rId3" imgW="1104900" imgH="393700" progId="Equation.KSEE3">
                  <p:embed/>
                </p:oleObj>
              </mc:Choice>
              <mc:Fallback>
                <p:oleObj name="Equation" r:id="rId3" imgW="1104900" imgH="393700" progId="Equation.KSEE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0638" y="4383088"/>
                        <a:ext cx="3125787" cy="1112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85F18382-9F93-4BC2-B687-02C83BA66F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62488" y="4344988"/>
          <a:ext cx="2443162" cy="118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4" name="Equation" r:id="rId5" imgW="863225" imgH="418918" progId="Equation.KSEE3">
                  <p:embed/>
                </p:oleObj>
              </mc:Choice>
              <mc:Fallback>
                <p:oleObj name="Equation" r:id="rId5" imgW="863225" imgH="418918" progId="Equation.KSEE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2488" y="4344988"/>
                        <a:ext cx="2443162" cy="1187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1AA22A57-23F4-412A-9373-6DD6994267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33938" y="5805488"/>
          <a:ext cx="2516187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5" name="Equation" r:id="rId7" imgW="889000" imgH="228600" progId="Equation.KSEE3">
                  <p:embed/>
                </p:oleObj>
              </mc:Choice>
              <mc:Fallback>
                <p:oleObj name="Equation" r:id="rId7" imgW="889000" imgH="228600" progId="Equation.KSEE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3938" y="5805488"/>
                        <a:ext cx="2516187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/>
      <p:bldP spid="14" grpId="0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">
            <a:extLst>
              <a:ext uri="{FF2B5EF4-FFF2-40B4-BE49-F238E27FC236}">
                <a16:creationId xmlns:a16="http://schemas.microsoft.com/office/drawing/2014/main" id="{2E742CAE-637D-4CB1-86C9-C6225DBA4D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1146175"/>
            <a:ext cx="8497888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AutoNum type="alphaLcParenR" startAt="2"/>
            </a:pPr>
            <a:r>
              <a:rPr lang="en-US" altLang="en-US" sz="2000">
                <a:solidFill>
                  <a:schemeClr val="tx1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Calculate the volume of 65.0 g of liquid methanol (wood alcohol) if its density is 0.791 g/mL.</a:t>
            </a:r>
          </a:p>
          <a:p>
            <a:pPr>
              <a:spcBef>
                <a:spcPct val="0"/>
              </a:spcBef>
              <a:buFontTx/>
              <a:buAutoNum type="alphaLcParenR" startAt="2"/>
            </a:pPr>
            <a:r>
              <a:rPr lang="en-US" altLang="en-US" sz="2000">
                <a:solidFill>
                  <a:schemeClr val="tx1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What is the mass in grams of a cube of gold (d = 19.32 g/cm</a:t>
            </a:r>
            <a:r>
              <a:rPr lang="en-US" altLang="en-US" sz="2000" baseline="30000">
                <a:solidFill>
                  <a:schemeClr val="tx1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3</a:t>
            </a:r>
            <a:r>
              <a:rPr lang="en-US" altLang="en-US" sz="2000">
                <a:solidFill>
                  <a:schemeClr val="tx1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) if the length of the cube is 2.00 cm?</a:t>
            </a:r>
            <a:endParaRPr lang="en-CA" altLang="en-US" sz="2000">
              <a:solidFill>
                <a:schemeClr val="tx1"/>
              </a:solidFill>
              <a:latin typeface="Trebuchet MS" panose="020B0603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417924-56D0-4F0E-BDA1-6D425178DA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3350" y="3559175"/>
            <a:ext cx="31321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R: </a:t>
            </a:r>
            <a:r>
              <a:rPr lang="en-US" altLang="en-US" sz="2400">
                <a:solidFill>
                  <a:srgbClr val="FF0000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volume, v</a:t>
            </a:r>
            <a:endParaRPr lang="en-CA" altLang="en-US" sz="24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A16011-1CFB-4831-8C5A-4E88978AE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125" y="3552825"/>
            <a:ext cx="839787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G:  </a:t>
            </a:r>
            <a:r>
              <a:rPr lang="en-US" altLang="en-US" sz="2400">
                <a:solidFill>
                  <a:srgbClr val="FF0000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d = 0.791 g/mL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	m = 65.0 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E09042-A3EB-4B90-86D8-3570DBC651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550" y="4344988"/>
            <a:ext cx="84391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S:  </a:t>
            </a:r>
            <a:endParaRPr lang="en-CA" altLang="en-US" sz="2400">
              <a:solidFill>
                <a:srgbClr val="FF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D39BCE-E2A9-49CE-8CD1-77B7CEC6C310}"/>
              </a:ext>
            </a:extLst>
          </p:cNvPr>
          <p:cNvSpPr/>
          <p:nvPr/>
        </p:nvSpPr>
        <p:spPr>
          <a:xfrm>
            <a:off x="261938" y="303213"/>
            <a:ext cx="8601075" cy="83026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000000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SAMPLE EXERCISE 1.4: Determining Density and Using 				Density to Determine Volume or Mass</a:t>
            </a:r>
            <a:endParaRPr lang="en-US" b="1" dirty="0">
              <a:latin typeface="Trebuchet MS"/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F692EC-36C1-4321-8890-1143152FE9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025" y="3170238"/>
            <a:ext cx="1768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CA" altLang="en-US" sz="2400">
                <a:solidFill>
                  <a:schemeClr val="tx1"/>
                </a:solidFill>
              </a:rPr>
              <a:t>(b) 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555D79AD-5057-4A81-B979-AAEFE769F2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0638" y="4348163"/>
          <a:ext cx="3125787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7" name="Equation" r:id="rId3" imgW="1104900" imgH="419100" progId="Equation.KSEE3">
                  <p:embed/>
                </p:oleObj>
              </mc:Choice>
              <mc:Fallback>
                <p:oleObj name="Equation" r:id="rId3" imgW="1104900" imgH="419100" progId="Equation.KSEE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0638" y="4348163"/>
                        <a:ext cx="3125787" cy="1184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953FF8ED-CE48-4ABD-944C-583EA3A350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9613" y="4344988"/>
          <a:ext cx="2730500" cy="118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8" name="Equation" r:id="rId5" imgW="965200" imgH="419100" progId="Equation.KSEE3">
                  <p:embed/>
                </p:oleObj>
              </mc:Choice>
              <mc:Fallback>
                <p:oleObj name="Equation" r:id="rId5" imgW="965200" imgH="419100" progId="Equation.KSEE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9613" y="4344988"/>
                        <a:ext cx="2730500" cy="1187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B616E0AB-4A97-4319-A5ED-4732D46844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21275" y="5842000"/>
          <a:ext cx="1941513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9" name="Equation" r:id="rId7" imgW="685800" imgH="203200" progId="Equation.KSEE3">
                  <p:embed/>
                </p:oleObj>
              </mc:Choice>
              <mc:Fallback>
                <p:oleObj name="Equation" r:id="rId7" imgW="685800" imgH="203200" progId="Equation.KSEE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1275" y="5842000"/>
                        <a:ext cx="1941513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/>
      <p:bldP spid="14" grpId="0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E583D7-2710-48F3-B5D3-00E65C0D8E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" y="1146175"/>
            <a:ext cx="849788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AutoNum type="alphaLcParenR" startAt="3"/>
            </a:pPr>
            <a:r>
              <a:rPr lang="en-US" altLang="en-US" sz="2000">
                <a:solidFill>
                  <a:schemeClr val="tx1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What is the mass in grams of a cube of gold (d = 19.32 g/cm</a:t>
            </a:r>
            <a:r>
              <a:rPr lang="en-US" altLang="en-US" sz="2000" baseline="30000">
                <a:solidFill>
                  <a:schemeClr val="tx1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3</a:t>
            </a:r>
            <a:r>
              <a:rPr lang="en-US" altLang="en-US" sz="2000">
                <a:solidFill>
                  <a:schemeClr val="tx1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) if the length of the cube is 2.00 cm?</a:t>
            </a:r>
            <a:endParaRPr lang="en-CA" altLang="en-US" sz="2000">
              <a:solidFill>
                <a:schemeClr val="tx1"/>
              </a:solidFill>
              <a:latin typeface="Trebuchet MS" panose="020B0603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E4D736-40DD-431D-88B5-74C4A531C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5938" y="1995488"/>
            <a:ext cx="3132137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R: </a:t>
            </a:r>
            <a:r>
              <a:rPr lang="en-US" altLang="en-US" sz="2400">
                <a:solidFill>
                  <a:srgbClr val="FF0000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mass, m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   volume, v</a:t>
            </a:r>
            <a:endParaRPr lang="en-CA" altLang="en-US" sz="24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E700CE-8A06-442E-80BA-F4811286B6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35175"/>
            <a:ext cx="839787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G:  </a:t>
            </a:r>
            <a:r>
              <a:rPr lang="en-US" altLang="en-US" sz="2400">
                <a:solidFill>
                  <a:srgbClr val="FF0000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d = 19.32 </a:t>
            </a:r>
            <a:r>
              <a:rPr lang="en-US" altLang="en-US" sz="2400" dirty="0">
                <a:solidFill>
                  <a:srgbClr val="FF0000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g/cm</a:t>
            </a:r>
            <a:r>
              <a:rPr lang="en-US" altLang="en-US" sz="2400" baseline="30000" dirty="0">
                <a:solidFill>
                  <a:srgbClr val="FF0000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3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  <a:latin typeface="Trebuchet MS" panose="020B0603020202020204" pitchFamily="34" charset="0"/>
                <a:cs typeface="Times New Roman" panose="02020603050405020304" pitchFamily="18" charset="0"/>
              </a:rPr>
              <a:t>	l = 2.00 cm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466307-0AB1-4CA2-B482-7E0D7504F9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450" y="2995613"/>
            <a:ext cx="8437563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A: </a:t>
            </a:r>
            <a:r>
              <a:rPr lang="en-US" altLang="en-US" sz="2400">
                <a:solidFill>
                  <a:srgbClr val="FF0000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can calculate the mass from the volume of the cube and its density; the volume of the cube is length cubed.  </a:t>
            </a:r>
            <a:endParaRPr lang="en-CA" altLang="en-US" sz="2400">
              <a:solidFill>
                <a:srgbClr val="FF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D39BCE-E2A9-49CE-8CD1-77B7CEC6C310}"/>
              </a:ext>
            </a:extLst>
          </p:cNvPr>
          <p:cNvSpPr/>
          <p:nvPr/>
        </p:nvSpPr>
        <p:spPr>
          <a:xfrm>
            <a:off x="261938" y="303213"/>
            <a:ext cx="8601075" cy="83026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000000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SAMPLE EXERCISE 1.4: Determining Density and Using 				Density to Determine Volume or Mass</a:t>
            </a:r>
            <a:endParaRPr lang="en-US" b="1" dirty="0">
              <a:latin typeface="Trebuchet MS"/>
              <a:cs typeface="Trebuchet MS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E37F2033-B8A7-4A8A-B96C-15CE812628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3750" y="4914900"/>
          <a:ext cx="4238625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8" name="Equation" r:id="rId3" imgW="1497950" imgH="203112" progId="Equation.KSEE3">
                  <p:embed/>
                </p:oleObj>
              </mc:Choice>
              <mc:Fallback>
                <p:oleObj name="Equation" r:id="rId3" imgW="1497950" imgH="203112" progId="Equation.KSEE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750" y="4914900"/>
                        <a:ext cx="4238625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EF05D892-F097-40B4-A246-005865BF66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9588" y="5426075"/>
          <a:ext cx="431165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9" name="Equation" r:id="rId5" imgW="1524000" imgH="228600" progId="Equation.KSEE3">
                  <p:embed/>
                </p:oleObj>
              </mc:Choice>
              <mc:Fallback>
                <p:oleObj name="Equation" r:id="rId5" imgW="1524000" imgH="228600" progId="Equation.KSEE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9588" y="5426075"/>
                        <a:ext cx="431165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A782F095-1949-4874-8ABC-ED371A10E6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78000" y="5999163"/>
          <a:ext cx="1509713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0" name="Equation" r:id="rId7" imgW="533169" imgH="228501" progId="Equation.KSEE3">
                  <p:embed/>
                </p:oleObj>
              </mc:Choice>
              <mc:Fallback>
                <p:oleObj name="Equation" r:id="rId7" imgW="533169" imgH="228501" progId="Equation.KSEE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8000" y="5999163"/>
                        <a:ext cx="1509713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1E81C66F-AC9B-42C1-87EF-07A17A9A9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114800"/>
            <a:ext cx="84375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S:  </a:t>
            </a:r>
            <a:endParaRPr lang="en-CA" altLang="en-US" sz="2400">
              <a:solidFill>
                <a:srgbClr val="FF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3A47E299-A24C-40BF-915F-291C41D4FE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2650" y="4087813"/>
          <a:ext cx="3305175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1" name="Equation" r:id="rId9" imgW="1168400" imgH="228600" progId="Equation.KSEE3">
                  <p:embed/>
                </p:oleObj>
              </mc:Choice>
              <mc:Fallback>
                <p:oleObj name="Equation" r:id="rId9" imgW="1168400" imgH="228600" progId="Equation.KSEE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2650" y="4087813"/>
                        <a:ext cx="3305175" cy="646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FF1D2317-6E37-4B42-886F-199274BA6A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54513" y="4064000"/>
          <a:ext cx="2155825" cy="646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2" name="Equation" r:id="rId11" imgW="761669" imgH="228501" progId="Equation.KSEE3">
                  <p:embed/>
                </p:oleObj>
              </mc:Choice>
              <mc:Fallback>
                <p:oleObj name="Equation" r:id="rId11" imgW="761669" imgH="228501" progId="Equation.KSEE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4513" y="4064000"/>
                        <a:ext cx="2155825" cy="646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82A5BE66-9035-46E6-ADA0-D48EFAE548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56400" y="4113213"/>
          <a:ext cx="1831975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3" name="Equation" r:id="rId13" imgW="647419" imgH="203112" progId="Equation.KSEE3">
                  <p:embed/>
                </p:oleObj>
              </mc:Choice>
              <mc:Fallback>
                <p:oleObj name="Equation" r:id="rId13" imgW="647419" imgH="203112" progId="Equation.KSEE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6400" y="4113213"/>
                        <a:ext cx="1831975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D9D47A0-2840-4FA9-B0E1-EECC704337EC}"/>
              </a:ext>
            </a:extLst>
          </p:cNvPr>
          <p:cNvCxnSpPr/>
          <p:nvPr/>
        </p:nvCxnSpPr>
        <p:spPr bwMode="auto">
          <a:xfrm flipH="1">
            <a:off x="3005138" y="5487988"/>
            <a:ext cx="609600" cy="390525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54E1F75-5942-45B4-A972-7F649FF7ED43}"/>
              </a:ext>
            </a:extLst>
          </p:cNvPr>
          <p:cNvCxnSpPr/>
          <p:nvPr/>
        </p:nvCxnSpPr>
        <p:spPr bwMode="auto">
          <a:xfrm flipH="1">
            <a:off x="5408613" y="5546725"/>
            <a:ext cx="609600" cy="388938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/>
      <p:bldP spid="14" grpId="0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>
            <a:extLst>
              <a:ext uri="{FF2B5EF4-FFF2-40B4-BE49-F238E27FC236}">
                <a16:creationId xmlns:a16="http://schemas.microsoft.com/office/drawing/2014/main" id="{CD3D476E-1FEF-4AF9-AD9E-69D3B512F3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5400" b="1">
                <a:solidFill>
                  <a:schemeClr val="accent2"/>
                </a:solidFill>
              </a:rPr>
              <a:t>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3C250-68CF-42C6-B14F-B5327FBF5B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919288"/>
            <a:ext cx="8229600" cy="4000500"/>
          </a:xfrm>
        </p:spPr>
        <p:txBody>
          <a:bodyPr/>
          <a:lstStyle/>
          <a:p>
            <a:r>
              <a:rPr lang="en-CA" altLang="en-US" b="1" dirty="0"/>
              <a:t>Read pp. 14-30</a:t>
            </a:r>
          </a:p>
          <a:p>
            <a:r>
              <a:rPr lang="en-CA" altLang="en-US" b="1" dirty="0"/>
              <a:t>Exercises #1.25 – 1.30</a:t>
            </a:r>
          </a:p>
          <a:p>
            <a:r>
              <a:rPr lang="en-CA" altLang="en-US">
                <a:sym typeface="Wingdings" panose="05000000000000000000" pitchFamily="2" charset="2"/>
              </a:rPr>
              <a:t>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65" charset="0"/>
            <a:ea typeface="ＭＳ Ｐゴシック" pitchFamily="-65" charset="-128"/>
            <a:cs typeface="ＭＳ Ｐゴシック" pitchFamily="-65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65" charset="0"/>
            <a:ea typeface="ＭＳ Ｐゴシック" pitchFamily="-65" charset="-128"/>
            <a:cs typeface="ＭＳ Ｐゴシック" pitchFamily="-65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35490</TotalTime>
  <Words>577</Words>
  <Application>Microsoft Office PowerPoint</Application>
  <PresentationFormat>On-screen Show (4:3)</PresentationFormat>
  <Paragraphs>86</Paragraphs>
  <Slides>16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ＭＳ Ｐゴシック</vt:lpstr>
      <vt:lpstr>Arial</vt:lpstr>
      <vt:lpstr>Berlin Sans FB Demi</vt:lpstr>
      <vt:lpstr>Bernard MT Condensed</vt:lpstr>
      <vt:lpstr>Calibri</vt:lpstr>
      <vt:lpstr>Symbol</vt:lpstr>
      <vt:lpstr>Times New Roman</vt:lpstr>
      <vt:lpstr>Trebuchet MS</vt:lpstr>
      <vt:lpstr>Wingdings</vt:lpstr>
      <vt:lpstr>Blank Presentation</vt:lpstr>
      <vt:lpstr>Equation</vt:lpstr>
      <vt:lpstr>Chapter 1 1.4 Units of Measurement</vt:lpstr>
      <vt:lpstr>PowerPoint Presentation</vt:lpstr>
      <vt:lpstr>Recall: Physical Properties</vt:lpstr>
      <vt:lpstr>SI Units Learn! symbols and all!</vt:lpstr>
      <vt:lpstr>Metric System </vt:lpstr>
      <vt:lpstr>Volume</vt:lpstr>
      <vt:lpstr>Temperature:</vt:lpstr>
      <vt:lpstr>Temperature</vt:lpstr>
      <vt:lpstr>Temperature</vt:lpstr>
      <vt:lpstr>Temperature</vt:lpstr>
      <vt:lpstr>Density:</vt:lpstr>
      <vt:lpstr>Density of selected substances</vt:lpstr>
      <vt:lpstr>PowerPoint Presentation</vt:lpstr>
      <vt:lpstr>PowerPoint Presentation</vt:lpstr>
      <vt:lpstr>PowerPoint Presentation</vt:lpstr>
      <vt:lpstr>Homework</vt:lpstr>
    </vt:vector>
  </TitlesOfParts>
  <Company>msu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Introduction: Matter and Measurement</dc:title>
  <dc:creator>jjwilson</dc:creator>
  <cp:lastModifiedBy>Joanna Wilson</cp:lastModifiedBy>
  <cp:revision>184</cp:revision>
  <cp:lastPrinted>2010-09-08T14:47:32Z</cp:lastPrinted>
  <dcterms:created xsi:type="dcterms:W3CDTF">2009-09-08T15:32:17Z</dcterms:created>
  <dcterms:modified xsi:type="dcterms:W3CDTF">2018-09-17T20:27:14Z</dcterms:modified>
</cp:coreProperties>
</file>