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342" r:id="rId3"/>
    <p:sldId id="264" r:id="rId4"/>
    <p:sldId id="339" r:id="rId5"/>
    <p:sldId id="285" r:id="rId6"/>
    <p:sldId id="286" r:id="rId7"/>
    <p:sldId id="288" r:id="rId8"/>
    <p:sldId id="313" r:id="rId9"/>
    <p:sldId id="314" r:id="rId10"/>
    <p:sldId id="275" r:id="rId11"/>
    <p:sldId id="289" r:id="rId12"/>
    <p:sldId id="274" r:id="rId13"/>
    <p:sldId id="302" r:id="rId14"/>
    <p:sldId id="298" r:id="rId15"/>
    <p:sldId id="299" r:id="rId16"/>
    <p:sldId id="300" r:id="rId17"/>
    <p:sldId id="260" r:id="rId18"/>
    <p:sldId id="283" r:id="rId19"/>
    <p:sldId id="335" r:id="rId20"/>
    <p:sldId id="338" r:id="rId21"/>
    <p:sldId id="301" r:id="rId22"/>
    <p:sldId id="284" r:id="rId23"/>
    <p:sldId id="263" r:id="rId24"/>
    <p:sldId id="281" r:id="rId25"/>
    <p:sldId id="343" r:id="rId2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40">
          <p15:clr>
            <a:srgbClr val="A4A3A4"/>
          </p15:clr>
        </p15:guide>
        <p15:guide id="2" pos="2592">
          <p15:clr>
            <a:srgbClr val="A4A3A4"/>
          </p15:clr>
        </p15:guide>
        <p15:guide id="3" pos="31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FF"/>
    <a:srgbClr val="FF6FCF"/>
    <a:srgbClr val="008000"/>
    <a:srgbClr val="FF8000"/>
    <a:srgbClr val="F7F7F7"/>
    <a:srgbClr val="001996"/>
    <a:srgbClr val="00008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41" autoAdjust="0"/>
    <p:restoredTop sz="90929"/>
  </p:normalViewPr>
  <p:slideViewPr>
    <p:cSldViewPr snapToGrid="0">
      <p:cViewPr varScale="1">
        <p:scale>
          <a:sx n="65" d="100"/>
          <a:sy n="65" d="100"/>
        </p:scale>
        <p:origin x="1338" y="78"/>
      </p:cViewPr>
      <p:guideLst>
        <p:guide orient="horz" pos="1440"/>
        <p:guide pos="2592"/>
        <p:guide pos="31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612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481B3ABE-FA2E-44B8-AFAB-B48E8D6F15A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116C0084-CB8E-4805-B09D-615B859EB83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B917E442-A32E-4691-85EB-4D60D5D295A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CFE21992-D90B-420D-8F48-95C96BD86CD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12294" name="Rectangle 6">
            <a:extLst>
              <a:ext uri="{FF2B5EF4-FFF2-40B4-BE49-F238E27FC236}">
                <a16:creationId xmlns:a16="http://schemas.microsoft.com/office/drawing/2014/main" id="{0415A697-9A1C-4905-B48E-C1388CB8548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295" name="Rectangle 7">
            <a:extLst>
              <a:ext uri="{FF2B5EF4-FFF2-40B4-BE49-F238E27FC236}">
                <a16:creationId xmlns:a16="http://schemas.microsoft.com/office/drawing/2014/main" id="{97B053D1-76C3-44A7-B1FE-8395FD611A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CA67D125-F11E-4136-BFA8-5AF891A785A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ＭＳ Ｐゴシック" pitchFamily="-65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>
            <a:extLst>
              <a:ext uri="{FF2B5EF4-FFF2-40B4-BE49-F238E27FC236}">
                <a16:creationId xmlns:a16="http://schemas.microsoft.com/office/drawing/2014/main" id="{0CB46797-1428-487B-AE14-F65E6B04FE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5F90A89-23D4-47E4-8835-C3CD55369A55}" type="slidenum">
              <a:rPr lang="en-US" altLang="en-US" sz="1200" smtClean="0"/>
              <a:pPr/>
              <a:t>1</a:t>
            </a:fld>
            <a:endParaRPr lang="en-US" altLang="en-US" sz="1200"/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061153E4-B498-4260-AFE3-5AEF8A7840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BF9FCFA6-BD42-44DB-999D-31FE9696EF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7904B650-E2EB-43E3-B80A-9A21DB4BC6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6ED9C87-EBAC-41BB-A69D-03035F863F36}" type="slidenum">
              <a:rPr lang="en-US" altLang="en-US" sz="1200" smtClean="0"/>
              <a:pPr/>
              <a:t>3</a:t>
            </a:fld>
            <a:endParaRPr lang="en-US" altLang="en-US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BED38600-69C3-49ED-9EFB-4C3F937725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043563DB-7778-4998-B989-A64B855939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2C9FB4C6-1DB8-4AC9-9073-40DF4C6430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C52DCFFA-8D39-4387-918E-C62B168C25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EE87CDDC-4301-4ED3-89EA-5061C8DA87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E85BF96-7D37-4933-8A00-208BE5BECCF5}" type="slidenum">
              <a:rPr lang="en-US" altLang="en-US" sz="1200" smtClean="0"/>
              <a:pPr/>
              <a:t>5</a:t>
            </a:fld>
            <a:endParaRPr lang="en-US" altLang="en-US" sz="1200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9088BBAB-347E-40E8-A7E6-607162C0EC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0A35DD7B-E98A-431F-B06E-3632ED7E0D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71BFC160-E5F5-4888-8C03-F83FBAA505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82103E2-E5F0-449D-A12D-6D1B674879FA}" type="slidenum">
              <a:rPr lang="en-US" altLang="en-US" sz="1200" smtClean="0"/>
              <a:pPr/>
              <a:t>6</a:t>
            </a:fld>
            <a:endParaRPr lang="en-US" altLang="en-US" sz="1200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AF50B7A4-E9D8-41CE-B9B0-D2285B93FB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88D0CE46-61A2-4368-9BD0-18D40CA939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C3B94B1C-E4E0-4CEC-9945-779F37F436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1397423-35E6-4E81-ADDD-5437FA513AE1}" type="slidenum">
              <a:rPr lang="en-US" altLang="en-US" sz="1200" smtClean="0"/>
              <a:pPr/>
              <a:t>7</a:t>
            </a:fld>
            <a:endParaRPr lang="en-US" altLang="en-US" sz="120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E2DE9551-C933-440B-B384-F897FDED16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1C9F403A-4348-4645-9A30-6D27FCDD83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3513DCA5-8872-4AF4-AEFC-6A4E927C9E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A222D0E-67EE-40B2-AB9B-0F9744ED0F66}" type="slidenum">
              <a:rPr lang="en-US" altLang="en-US" sz="1200" smtClean="0"/>
              <a:pPr/>
              <a:t>8</a:t>
            </a:fld>
            <a:endParaRPr lang="en-US" altLang="en-US" sz="1200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9B2F018E-D3C1-4885-8B24-A69A77BF4A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160F35C9-B951-49C7-A5F9-B010B184F4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092BF343-C994-4EC9-9220-FEA1735E8F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8175A93-2F9C-4EB7-B26A-F962C3C2A47B}" type="slidenum">
              <a:rPr lang="en-US" altLang="en-US" sz="1200" smtClean="0"/>
              <a:pPr/>
              <a:t>9</a:t>
            </a:fld>
            <a:endParaRPr lang="en-US" altLang="en-US" sz="1200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9D4DFFB4-B0FB-419F-ADAA-FB5DD5BE9C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5BC0F085-3C0A-477A-AA48-EB8508DB61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9DD142A0-594D-45FF-92DA-22060E81B3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E73356C-2E92-4D2D-9566-210B13738097}" type="slidenum">
              <a:rPr lang="en-US" altLang="en-US" sz="1200" smtClean="0"/>
              <a:pPr/>
              <a:t>10</a:t>
            </a:fld>
            <a:endParaRPr lang="en-US" altLang="en-US" sz="1200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1EC07507-CFE8-47BE-BBC4-3F0EB2CDE6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3163BC81-8B57-41F5-B09B-09A881E361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D40D7448-3E02-44F5-A0CC-991C55B3A2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FDE89E2-C393-4760-BBB0-89BC0286ABD0}" type="slidenum">
              <a:rPr lang="en-US" altLang="en-US" sz="1200" smtClean="0"/>
              <a:pPr/>
              <a:t>11</a:t>
            </a:fld>
            <a:endParaRPr lang="en-US" altLang="en-US" sz="1200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48437010-A7A7-46B9-859E-54DB7DB761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E114A933-6E77-43EE-BD51-77DD38DA7B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EBFDA4D8-BD74-416B-802E-42587E05C5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9A92C93-64A9-4D46-B827-CDF21AE377EC}" type="slidenum">
              <a:rPr lang="en-US" altLang="en-US" sz="1200" smtClean="0"/>
              <a:pPr/>
              <a:t>12</a:t>
            </a:fld>
            <a:endParaRPr lang="en-US" altLang="en-US" sz="1200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E0252C0A-9FCB-4D07-AEC3-47968D9482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9EB03F9F-93B4-43A9-B49F-F7B7343446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8AE82258-78C9-4D09-961F-09F4BC4549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580755E-5018-42C7-99A8-E4B8F9CBB2FC}" type="slidenum">
              <a:rPr lang="en-US" altLang="en-US" sz="1200" smtClean="0"/>
              <a:pPr/>
              <a:t>13</a:t>
            </a:fld>
            <a:endParaRPr lang="en-US" altLang="en-US" sz="1200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DBA31284-39F3-4043-9511-0E81750D94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F3D12B87-05D5-4A75-AA69-E13391B580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435A87E6-DF8F-45A9-B024-6B02F66D70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2D1B21D-FD5D-4AEF-8007-4146FA55F291}" type="slidenum">
              <a:rPr lang="en-US" altLang="en-US" sz="1200" smtClean="0"/>
              <a:pPr/>
              <a:t>14</a:t>
            </a:fld>
            <a:endParaRPr lang="en-US" altLang="en-US" sz="1200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E21762F3-17EF-41D0-ACFD-0E02587611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0449410F-853E-495A-8CBA-02561FB127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602911AE-9D3D-4550-AABB-3C08EDDC32E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AF0FC6E-B0E9-4DBE-B27C-8C547EE49DBA}" type="slidenum">
              <a:rPr lang="en-US" altLang="en-US" sz="1200" smtClean="0"/>
              <a:pPr/>
              <a:t>15</a:t>
            </a:fld>
            <a:endParaRPr lang="en-US" altLang="en-US" sz="1200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39694573-280A-480C-9648-142E7E53AF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D372C9D3-6F81-4FF3-9066-DC87286EB9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2CC3DB28-0BE0-46AA-8611-142C925B9E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4CF4F30-FB49-46D1-9F19-7D0C947AD874}" type="slidenum">
              <a:rPr lang="en-US" altLang="en-US" sz="1200" smtClean="0"/>
              <a:pPr/>
              <a:t>16</a:t>
            </a:fld>
            <a:endParaRPr lang="en-US" altLang="en-US" sz="1200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A186AFBF-6F80-4BCE-BD79-664821BE45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BFD8C244-9296-4CEF-AF99-1283FD3246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AAB91BF5-CF97-403B-95A1-A09B2D1EB2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4E9484D-EEFC-4F54-9B21-64CAF8F8ACEB}" type="slidenum">
              <a:rPr lang="en-US" altLang="en-US" sz="1200" smtClean="0"/>
              <a:pPr/>
              <a:t>17</a:t>
            </a:fld>
            <a:endParaRPr lang="en-US" altLang="en-US" sz="12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37589BC7-615F-4C2D-B59D-DB77664B34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1924C781-4EB8-462A-AA7C-F1564A6EC6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19338E32-ED5A-46D4-84B2-2F9EB5AA0B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96D03C2-48CE-4DEF-AE98-D0DF47A344EC}" type="slidenum">
              <a:rPr lang="en-US" altLang="en-US" sz="1200" smtClean="0"/>
              <a:pPr/>
              <a:t>18</a:t>
            </a:fld>
            <a:endParaRPr lang="en-US" altLang="en-US" sz="1200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C3BD5F7D-4E26-4363-9ADA-46163BEAF4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C9D0FB4E-B9B8-46E4-AA40-2640AD3F9B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E7640021-C7A5-499E-B0E9-5757CDEBB9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C783E03-6EDB-4B7E-8C33-9E98C5FA7AEC}" type="slidenum">
              <a:rPr lang="en-US" altLang="en-US" sz="1200" smtClean="0"/>
              <a:pPr/>
              <a:t>19</a:t>
            </a:fld>
            <a:endParaRPr lang="en-US" altLang="en-US" sz="1200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DFE0C7EA-6CF7-4770-8265-E0D8D22996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454B5A94-8D44-4C5B-9CB0-5940EA0472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56ADA18F-343F-4659-AFED-8C726F2E21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4647674-A174-4809-BEE0-BFA897BA16B9}" type="slidenum">
              <a:rPr lang="en-US" altLang="en-US" sz="1200" smtClean="0"/>
              <a:pPr/>
              <a:t>20</a:t>
            </a:fld>
            <a:endParaRPr lang="en-US" altLang="en-US" sz="1200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704B1317-0C88-4B99-9C5D-9B8CD0FFF3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41CC2430-08AF-4297-BBB8-FE4513F39A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428100B9-45EC-447A-A182-5CF31A5074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75059A6-BD9A-4132-9997-5052A910E9CE}" type="slidenum">
              <a:rPr lang="en-US" altLang="en-US" sz="1200" smtClean="0"/>
              <a:pPr/>
              <a:t>21</a:t>
            </a:fld>
            <a:endParaRPr lang="en-US" altLang="en-US" sz="1200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4896B58F-5A24-4D9A-89F6-E9AB1A9D87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E2D77CF2-A2A5-483A-99D2-CAD1EC3D78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0D5C7EE9-C83B-469C-9C23-CE6674D0EF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6847EE6-6E4B-49EA-BD3E-9D22422485F1}" type="slidenum">
              <a:rPr lang="en-US" altLang="en-US" sz="1200" smtClean="0"/>
              <a:pPr/>
              <a:t>22</a:t>
            </a:fld>
            <a:endParaRPr lang="en-US" altLang="en-US" sz="1200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2A5411A9-0C23-4DB8-9F57-2B2FB22E28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720DB3EB-69F2-4DE9-97C6-4CB01F8DDE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37F17AE2-64AC-4517-B258-EA9161D1A8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071BE8B-07F7-492A-9FF9-C0EF5A7A88E1}" type="slidenum">
              <a:rPr lang="en-US" altLang="en-US" sz="1200" smtClean="0"/>
              <a:pPr/>
              <a:t>23</a:t>
            </a:fld>
            <a:endParaRPr lang="en-US" altLang="en-US" sz="1200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51E9129D-5B39-4A7E-9E8C-800E89EEA6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1E658D31-6895-4B4E-A4BB-6E014DC3AA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1E6466AF-5E38-4C17-BA7F-6F70FE9E67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3CEDFCB-F9AF-48A7-9570-A92934652653}" type="slidenum">
              <a:rPr lang="en-US" altLang="en-US" sz="1200" smtClean="0"/>
              <a:pPr/>
              <a:t>24</a:t>
            </a:fld>
            <a:endParaRPr lang="en-US" altLang="en-US" sz="1200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851EA109-A271-4516-8047-3FD184C787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DF48D613-167B-4E90-9FE9-55FEEABE0B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5988B76-4035-4F2F-94D5-F620B752FEF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3E5D45A-D825-4366-8B74-7171D6DE33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E12AC41-08D2-4DF4-A5FC-91B9910B4C6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2065C1-F3CA-45B5-B75F-866B4976348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8147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11412AD-AA10-4F27-8BA8-6BFD63F1C8E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40C92ED-2123-4379-B52B-23FE1302E9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74AA685-5C82-4F93-83B0-F2B544DBA54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9B9D49-3E59-4F53-B31F-68FE05FF9A7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5669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ABDF426-7F2A-4DF1-B8A3-0134C0E55B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D5B7B34-40E6-45E7-8190-AB453422C8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1AF4245-2EA0-4EFF-96C9-B8402342C1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9F74BF-C841-4C70-A5C7-B0CC0EC4BA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4190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FAE4FA-68AE-42BA-8428-6144542836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C9FD61-A051-483F-AA7A-9E19C814943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AB7973-56D3-4D46-92BD-B59917DCF45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4A458D-D75E-421B-8C13-2CD11D3F41D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1806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93EB081-0CB0-462A-9BBA-1CE344029D0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4AC7466-5B21-4341-A58E-E1CC5CF46A1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8F52EC34-8DCC-4377-85EF-BE93BA11D9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2132C3-B916-4562-A8CF-EA95F69D1F0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2605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5A09D63-96C9-44F6-837B-8FB949FB621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F5C9D9E-7F48-45F7-9424-CD5030D597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AD9E841-850E-48C6-BD74-942C4BE8E9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480AD4-4EF7-4C8F-89A9-536B823EEA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486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9CB9EB6-1647-4F98-80F3-B15AF5FFC14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ABFB650-4A25-4230-8259-3475BBDC8D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2C5394E-E2AB-464B-848D-6E9F342E1A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B025A0-11C9-47A5-8EC6-CAB70205028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9578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0FC099-9A2F-4F83-A0DC-8ABF3AFB7E3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C2C89F-F797-4932-90E4-061D92A0266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CC899A-529A-4521-A0F6-DCDEBAF6D2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118F69-B3B9-40BB-96EB-38D887EE9B4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0639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09CBC3-D949-42D7-9AF9-6547F7046FC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C9F2B9-F770-4E42-8004-4947DA46090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4F03B9-1EB5-4074-BF85-980024C450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A18DAC-C7B4-4650-A0EE-9336649D178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6303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11EA864-434F-4FB6-89C2-A436759D727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90739E8-1A46-44F0-A91E-F90095214B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EA93ECE-F254-4002-983B-F4E769AC96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B6B3AF-452E-4156-BAC9-D5100CBECA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1183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228600"/>
            <a:ext cx="19431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28600"/>
            <a:ext cx="56769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B975726-FDD6-4B9E-BD63-47C49E1DDE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4A276D6-B79E-4AB3-86A9-9DF6307B1A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296C573-16C5-48BB-9D1B-F64E4D81DA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2A2632-4EF2-4659-9A4B-96C8EE0BD66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13074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77724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4114800"/>
            <a:ext cx="77724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5EA54D-DEA6-43FF-81AC-A95CBEEDA9A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864946-2872-4868-B673-424D232F6A4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F01751-22B2-4C1E-8B05-9DAF06A1546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EFDA92-69A9-4A52-8DEE-0B79D38500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19474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2412F8-7B21-45BB-B677-67AB9DEA964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FCC377-6FA0-47BA-ABDC-5737827B64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9C0420-CE9E-44A9-8C46-F12FA7807A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FEA585-20E4-46B7-9B9E-28701E95C2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65195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36A445-BE90-49B3-8FD0-D8439C977F6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1075E8-5FF7-42D7-B6A6-C411BC998A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18E528-1B8D-4F39-A109-33F69FF74D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4BD14-1E11-46F9-ABB5-CF2E7634FA5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35330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77724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14800"/>
            <a:ext cx="77724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9AF272-5EEA-4A05-ADA2-3621D024832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49C314-BE6C-4EE0-8183-A058034FF1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F3DC68-306A-4740-A8BF-C543CF29A2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5D69E0-1D15-48CE-944A-6FEF8DEEF19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9607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76D30A8-CD86-4E5D-AAD2-C4E34F77DA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D920ADD-0944-4DD0-BCA9-4695C79E84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4507633-BFB3-4DFF-8639-BB43723A412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066459E-6749-4990-9B03-983ADA38F74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30D026A-BC0B-49DE-95AF-F79579F5111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3134A05-E9E3-4C96-8D5D-97DD0B77063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grpSp>
        <p:nvGrpSpPr>
          <p:cNvPr id="1031" name="Group 9">
            <a:extLst>
              <a:ext uri="{FF2B5EF4-FFF2-40B4-BE49-F238E27FC236}">
                <a16:creationId xmlns:a16="http://schemas.microsoft.com/office/drawing/2014/main" id="{5A55C998-F7BB-4451-934F-145436ABEF2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772400" y="5486400"/>
            <a:ext cx="1371600" cy="1371600"/>
            <a:chOff x="4896" y="3456"/>
            <a:chExt cx="864" cy="864"/>
          </a:xfrm>
        </p:grpSpPr>
        <p:pic>
          <p:nvPicPr>
            <p:cNvPr id="1032" name="Picture 7" descr="spine icon">
              <a:extLst>
                <a:ext uri="{FF2B5EF4-FFF2-40B4-BE49-F238E27FC236}">
                  <a16:creationId xmlns:a16="http://schemas.microsoft.com/office/drawing/2014/main" id="{0C01D102-A03E-4ED1-AEA8-CDC724DB36E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Rectangle 8">
              <a:extLst>
                <a:ext uri="{FF2B5EF4-FFF2-40B4-BE49-F238E27FC236}">
                  <a16:creationId xmlns:a16="http://schemas.microsoft.com/office/drawing/2014/main" id="{6E99A919-B759-4DE8-9455-74757754EBC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965" y="3696"/>
              <a:ext cx="726" cy="4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defRPr/>
              </a:pPr>
              <a:r>
                <a:rPr lang="en-US" altLang="en-US" sz="1400">
                  <a:solidFill>
                    <a:srgbClr val="C82E32"/>
                  </a:solidFill>
                  <a:latin typeface="Times New Roman" panose="02020603050405020304" pitchFamily="18" charset="0"/>
                </a:rPr>
                <a:t>Matter</a:t>
              </a:r>
            </a:p>
            <a:p>
              <a:pPr algn="ctr">
                <a:defRPr/>
              </a:pPr>
              <a:r>
                <a:rPr lang="en-US" altLang="en-US" sz="1400">
                  <a:solidFill>
                    <a:srgbClr val="C82E32"/>
                  </a:solidFill>
                  <a:latin typeface="Times New Roman" panose="02020603050405020304" pitchFamily="18" charset="0"/>
                </a:rPr>
                <a:t>And</a:t>
              </a:r>
            </a:p>
            <a:p>
              <a:pPr algn="ctr">
                <a:defRPr/>
              </a:pPr>
              <a:r>
                <a:rPr lang="en-US" altLang="en-US" sz="1400">
                  <a:solidFill>
                    <a:srgbClr val="C82E32"/>
                  </a:solidFill>
                  <a:latin typeface="Times New Roman" panose="02020603050405020304" pitchFamily="18" charset="0"/>
                </a:rPr>
                <a:t>Measurement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C82E3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C82E32"/>
          </a:solidFill>
          <a:latin typeface="Arial" pitchFamily="-65" charset="0"/>
          <a:ea typeface="ＭＳ Ｐゴシック" pitchFamily="-65" charset="-128"/>
          <a:cs typeface="ＭＳ Ｐゴシック" pitchFamily="-65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C82E32"/>
          </a:solidFill>
          <a:latin typeface="Arial" pitchFamily="-65" charset="0"/>
          <a:ea typeface="ＭＳ Ｐゴシック" pitchFamily="-65" charset="-128"/>
          <a:cs typeface="ＭＳ Ｐゴシック" pitchFamily="-65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C82E32"/>
          </a:solidFill>
          <a:latin typeface="Arial" pitchFamily="-65" charset="0"/>
          <a:ea typeface="ＭＳ Ｐゴシック" pitchFamily="-65" charset="-128"/>
          <a:cs typeface="ＭＳ Ｐゴシック" pitchFamily="-65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C82E32"/>
          </a:solidFill>
          <a:latin typeface="Arial" pitchFamily="-65" charset="0"/>
          <a:ea typeface="ＭＳ Ｐゴシック" pitchFamily="-65" charset="-128"/>
          <a:cs typeface="ＭＳ Ｐゴシック" pitchFamily="-65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C82E32"/>
          </a:solidFill>
          <a:latin typeface="Arial" pitchFamily="-65" charset="0"/>
          <a:ea typeface="ＭＳ Ｐゴシック" pitchFamily="-65" charset="-128"/>
          <a:cs typeface="ＭＳ Ｐゴシック" pitchFamily="-65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C82E32"/>
          </a:solidFill>
          <a:latin typeface="Arial" pitchFamily="-65" charset="0"/>
          <a:ea typeface="ＭＳ Ｐゴシック" pitchFamily="-65" charset="-128"/>
          <a:cs typeface="ＭＳ Ｐゴシック" pitchFamily="-65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C82E32"/>
          </a:solidFill>
          <a:latin typeface="Arial" pitchFamily="-65" charset="0"/>
          <a:ea typeface="ＭＳ Ｐゴシック" pitchFamily="-65" charset="-128"/>
          <a:cs typeface="ＭＳ Ｐゴシック" pitchFamily="-65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C82E32"/>
          </a:solidFill>
          <a:latin typeface="Arial" pitchFamily="-65" charset="0"/>
          <a:ea typeface="ＭＳ Ｐゴシック" pitchFamily="-65" charset="-128"/>
          <a:cs typeface="ＭＳ Ｐゴシック" pitchFamily="-65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rgbClr val="C82E3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C82E32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C82E32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C82E32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rgbClr val="C82E32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C82E32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C82E32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C82E32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C82E32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804E236-3705-411F-888C-D18E0D9B4DF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52400" y="2286000"/>
            <a:ext cx="8839200" cy="1143000"/>
          </a:xfrm>
        </p:spPr>
        <p:txBody>
          <a:bodyPr/>
          <a:lstStyle/>
          <a:p>
            <a:pPr eaLnBrk="1" hangingPunct="1"/>
            <a:r>
              <a:rPr lang="en-US" altLang="en-US" sz="5400"/>
              <a:t>Chapter 1</a:t>
            </a:r>
            <a:br>
              <a:rPr lang="en-US" altLang="en-US" sz="5400"/>
            </a:br>
            <a:r>
              <a:rPr lang="en-US" altLang="en-US" sz="5400"/>
              <a:t>Introduction:</a:t>
            </a:r>
            <a:br>
              <a:rPr lang="en-US" altLang="en-US" sz="5400"/>
            </a:br>
            <a:r>
              <a:rPr lang="en-US" altLang="en-US" sz="5400"/>
              <a:t>Matter and Measurement</a:t>
            </a:r>
            <a:endParaRPr lang="en-US" altLang="en-US"/>
          </a:p>
        </p:txBody>
      </p:sp>
      <p:sp>
        <p:nvSpPr>
          <p:cNvPr id="3075" name="Text Box 4">
            <a:extLst>
              <a:ext uri="{FF2B5EF4-FFF2-40B4-BE49-F238E27FC236}">
                <a16:creationId xmlns:a16="http://schemas.microsoft.com/office/drawing/2014/main" id="{3B703907-B101-45E9-B149-9EBDC5F9CC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4325" y="76200"/>
            <a:ext cx="6340475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 i="1"/>
              <a:t>Chemistry, The Central Science</a:t>
            </a:r>
            <a:r>
              <a:rPr lang="en-US" altLang="en-US" sz="2400"/>
              <a:t>, 10th edition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/>
              <a:t>Theodore L. Brown; H. Eugene LeMay, Jr.; and Bruce E. Bursten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3BCB0-07C1-4D7A-AF2C-64DC36576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8" y="1665288"/>
            <a:ext cx="8229600" cy="4633912"/>
          </a:xfrm>
        </p:spPr>
        <p:txBody>
          <a:bodyPr>
            <a:normAutofit/>
          </a:bodyPr>
          <a:lstStyle/>
          <a:p>
            <a:pPr marL="0" indent="0">
              <a:buFontTx/>
              <a:buNone/>
            </a:pPr>
            <a:r>
              <a:rPr lang="en-CA" altLang="en-US" dirty="0"/>
              <a:t>By the end of class you will be able to…</a:t>
            </a:r>
          </a:p>
          <a:p>
            <a:pPr marL="0" indent="0">
              <a:buFontTx/>
              <a:buNone/>
            </a:pPr>
            <a:endParaRPr lang="en-CA" altLang="en-US" sz="1600" dirty="0"/>
          </a:p>
          <a:p>
            <a:pPr marL="514350" indent="-514350">
              <a:buFont typeface="+mj-lt"/>
              <a:buAutoNum type="arabicPeriod"/>
            </a:pPr>
            <a:r>
              <a:rPr lang="en-CA" altLang="en-US" dirty="0"/>
              <a:t>Classify matter into its states and substances.</a:t>
            </a:r>
          </a:p>
          <a:p>
            <a:pPr marL="514350" indent="-514350">
              <a:buFont typeface="+mj-lt"/>
              <a:buAutoNum type="arabicPeriod"/>
            </a:pPr>
            <a:r>
              <a:rPr lang="en-CA" altLang="en-US" dirty="0"/>
              <a:t>Distinguish between physical and chemical changes and properties.</a:t>
            </a:r>
          </a:p>
          <a:p>
            <a:pPr marL="514350" indent="-514350">
              <a:buFont typeface="+mj-lt"/>
              <a:buAutoNum type="arabicPeriod"/>
            </a:pPr>
            <a:r>
              <a:rPr lang="en-CA" altLang="en-US" dirty="0"/>
              <a:t>Give examples of mixture separation techniques.</a:t>
            </a:r>
          </a:p>
        </p:txBody>
      </p:sp>
      <p:sp>
        <p:nvSpPr>
          <p:cNvPr id="5123" name="WordArt 2" descr="1.5 Five Key Equations for Motion with Uniform Acceleration">
            <a:extLst>
              <a:ext uri="{FF2B5EF4-FFF2-40B4-BE49-F238E27FC236}">
                <a16:creationId xmlns:a16="http://schemas.microsoft.com/office/drawing/2014/main" id="{B2AA7A96-EACF-43ED-8150-5E4A1913B9B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88975" y="357188"/>
            <a:ext cx="7881938" cy="635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CA" sz="115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Berlin Sans FB Demi" panose="020E0802020502020306" pitchFamily="34" charset="0"/>
              </a:rPr>
              <a:t>Learning Goals: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8E1D18A-BB6E-47B9-AAFD-91631A592C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3100" y="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Scientific Method: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572559FB-0664-4A2F-A2E9-AFBE497DFA4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800"/>
              <a:t>	A systematic approach to solving problems.</a:t>
            </a:r>
          </a:p>
        </p:txBody>
      </p:sp>
      <p:pic>
        <p:nvPicPr>
          <p:cNvPr id="17412" name="Picture 6" descr="01_15">
            <a:extLst>
              <a:ext uri="{FF2B5EF4-FFF2-40B4-BE49-F238E27FC236}">
                <a16:creationId xmlns:a16="http://schemas.microsoft.com/office/drawing/2014/main" id="{060FF3A9-C5AD-4E2C-B7F1-980495124FA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846"/>
          <a:stretch>
            <a:fillRect/>
          </a:stretch>
        </p:blipFill>
        <p:spPr>
          <a:xfrm>
            <a:off x="228600" y="3962400"/>
            <a:ext cx="8763000" cy="1570038"/>
          </a:xfrm>
        </p:spPr>
      </p:pic>
      <p:sp>
        <p:nvSpPr>
          <p:cNvPr id="17413" name="Text Box 7">
            <a:extLst>
              <a:ext uri="{FF2B5EF4-FFF2-40B4-BE49-F238E27FC236}">
                <a16:creationId xmlns:a16="http://schemas.microsoft.com/office/drawing/2014/main" id="{7D045B34-A53A-41F6-BEE1-CD86B44D01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8125" y="3324225"/>
            <a:ext cx="1301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tx1"/>
                </a:solidFill>
              </a:rPr>
              <a:t>A model</a:t>
            </a:r>
          </a:p>
        </p:txBody>
      </p:sp>
      <p:sp>
        <p:nvSpPr>
          <p:cNvPr id="17414" name="Text Box 8">
            <a:extLst>
              <a:ext uri="{FF2B5EF4-FFF2-40B4-BE49-F238E27FC236}">
                <a16:creationId xmlns:a16="http://schemas.microsoft.com/office/drawing/2014/main" id="{DE4A1018-50A1-4BE7-8A79-14140C2265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825" y="3146425"/>
            <a:ext cx="143668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tx1"/>
                </a:solidFill>
              </a:rPr>
              <a:t>Empirical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tx1"/>
                </a:solidFill>
              </a:rPr>
              <a:t>Facts</a:t>
            </a:r>
          </a:p>
        </p:txBody>
      </p:sp>
      <p:sp>
        <p:nvSpPr>
          <p:cNvPr id="17415" name="Text Box 9">
            <a:extLst>
              <a:ext uri="{FF2B5EF4-FFF2-40B4-BE49-F238E27FC236}">
                <a16:creationId xmlns:a16="http://schemas.microsoft.com/office/drawing/2014/main" id="{551FA7B2-221D-4809-ABE0-79479BB06A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125" y="5819775"/>
            <a:ext cx="6886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0080FF"/>
                </a:solidFill>
                <a:latin typeface="BlairMdITC TT-Medium" pitchFamily="-112" charset="0"/>
              </a:rPr>
              <a:t>This is what makes it Science!</a:t>
            </a:r>
          </a:p>
        </p:txBody>
      </p:sp>
      <p:sp>
        <p:nvSpPr>
          <p:cNvPr id="17416" name="Text Box 10">
            <a:extLst>
              <a:ext uri="{FF2B5EF4-FFF2-40B4-BE49-F238E27FC236}">
                <a16:creationId xmlns:a16="http://schemas.microsoft.com/office/drawing/2014/main" id="{24FB137D-00CE-43BD-AA92-40BBC4D110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4525" y="5089525"/>
            <a:ext cx="3808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FF8000"/>
                </a:solidFill>
              </a:rPr>
              <a:t>The testing and retesting</a:t>
            </a:r>
            <a:endParaRPr lang="en-US" altLang="en-US" sz="2400">
              <a:solidFill>
                <a:srgbClr val="FF8000"/>
              </a:solidFill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3" grpId="0"/>
      <p:bldP spid="17414" grpId="0"/>
      <p:bldP spid="17415" grpId="0"/>
      <p:bldP spid="174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>
            <a:extLst>
              <a:ext uri="{FF2B5EF4-FFF2-40B4-BE49-F238E27FC236}">
                <a16:creationId xmlns:a16="http://schemas.microsoft.com/office/drawing/2014/main" id="{3B0C2A71-A6D2-4F38-9C7E-9492025907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7525" y="33972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8195" name="Text Box 3">
            <a:extLst>
              <a:ext uri="{FF2B5EF4-FFF2-40B4-BE49-F238E27FC236}">
                <a16:creationId xmlns:a16="http://schemas.microsoft.com/office/drawing/2014/main" id="{B789B10B-FA62-4B8C-AE2E-BF233E064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4663" y="0"/>
            <a:ext cx="4070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800" b="1">
                <a:solidFill>
                  <a:srgbClr val="FF0000"/>
                </a:solidFill>
              </a:rPr>
              <a:t>Facts and theories</a:t>
            </a: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87862937-E958-46E6-B29E-8014EAB179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" y="819150"/>
            <a:ext cx="4629150" cy="2647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tx1"/>
                </a:solidFill>
              </a:rPr>
              <a:t> *Fact:   on June 30, 1908 in Tunguska, Siberia, an explosion equivalent to about 15 million tons of TNT occurred.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tx1"/>
                </a:solidFill>
              </a:rPr>
              <a:t>    * </a:t>
            </a:r>
            <a:r>
              <a:rPr lang="en-US" altLang="en-US" sz="2400" b="1">
                <a:solidFill>
                  <a:srgbClr val="FF0000"/>
                </a:solidFill>
              </a:rPr>
              <a:t>Hypothesis</a:t>
            </a:r>
            <a:r>
              <a:rPr lang="en-US" altLang="en-US" sz="2400">
                <a:solidFill>
                  <a:schemeClr val="tx1"/>
                </a:solidFill>
              </a:rPr>
              <a:t> is that a comet or meteor collided with the Earth. </a:t>
            </a:r>
          </a:p>
        </p:txBody>
      </p:sp>
      <p:sp>
        <p:nvSpPr>
          <p:cNvPr id="8197" name="Text Box 6">
            <a:extLst>
              <a:ext uri="{FF2B5EF4-FFF2-40B4-BE49-F238E27FC236}">
                <a16:creationId xmlns:a16="http://schemas.microsoft.com/office/drawing/2014/main" id="{4E816775-0453-4B8D-AE1F-BA59B93BDA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525" y="4822825"/>
            <a:ext cx="8388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4102" name="Text Box 7">
            <a:extLst>
              <a:ext uri="{FF2B5EF4-FFF2-40B4-BE49-F238E27FC236}">
                <a16:creationId xmlns:a16="http://schemas.microsoft.com/office/drawing/2014/main" id="{F026145C-4EEC-47E4-BAF9-F5F66B06A4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925" y="3565525"/>
            <a:ext cx="8237538" cy="304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tx1"/>
                </a:solidFill>
              </a:rPr>
              <a:t>Testing:  look for elements and substances characteristic of extraterrestrial objects, elements not found in the area.  Such elements (Nickel, Iridium) were found. 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solidFill>
                <a:schemeClr val="tx1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tx1"/>
                </a:solidFill>
              </a:rPr>
              <a:t>However, there is no crater.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chemeClr val="tx1"/>
                </a:solidFill>
              </a:rPr>
              <a:t>Theory</a:t>
            </a:r>
            <a:r>
              <a:rPr lang="en-US" altLang="en-US" sz="2400">
                <a:solidFill>
                  <a:schemeClr val="tx1"/>
                </a:solidFill>
              </a:rPr>
              <a:t>:  Meteor exploded above the ground. 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solidFill>
                <a:schemeClr val="tx1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solidFill>
                <a:schemeClr val="tx1"/>
              </a:solidFill>
            </a:endParaRPr>
          </a:p>
        </p:txBody>
      </p:sp>
      <p:pic>
        <p:nvPicPr>
          <p:cNvPr id="8199" name="Picture 9">
            <a:extLst>
              <a:ext uri="{FF2B5EF4-FFF2-40B4-BE49-F238E27FC236}">
                <a16:creationId xmlns:a16="http://schemas.microsoft.com/office/drawing/2014/main" id="{50840D1B-5AB4-453F-8503-6616DE1FE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1075" y="796925"/>
            <a:ext cx="4168775" cy="267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D3EFF86D-D1C9-4A12-BB2C-1B2EEC92C1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60400" y="-228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Chemistry:</a:t>
            </a:r>
          </a:p>
        </p:txBody>
      </p:sp>
      <p:pic>
        <p:nvPicPr>
          <p:cNvPr id="10243" name="Picture 7" descr="01_04">
            <a:extLst>
              <a:ext uri="{FF2B5EF4-FFF2-40B4-BE49-F238E27FC236}">
                <a16:creationId xmlns:a16="http://schemas.microsoft.com/office/drawing/2014/main" id="{5BDB4FEB-6E01-4440-8E81-74488460B8C1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96"/>
          <a:stretch>
            <a:fillRect/>
          </a:stretch>
        </p:blipFill>
        <p:spPr>
          <a:xfrm>
            <a:off x="0" y="674688"/>
            <a:ext cx="7059613" cy="6116637"/>
          </a:xfrm>
        </p:spPr>
      </p:pic>
      <p:sp>
        <p:nvSpPr>
          <p:cNvPr id="21508" name="Rectangle 4">
            <a:extLst>
              <a:ext uri="{FF2B5EF4-FFF2-40B4-BE49-F238E27FC236}">
                <a16:creationId xmlns:a16="http://schemas.microsoft.com/office/drawing/2014/main" id="{59B3B44D-0A47-46BF-8F3D-C3EF7238751D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5740400" y="736600"/>
            <a:ext cx="3136900" cy="4114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800"/>
              <a:t>	The study of </a:t>
            </a:r>
            <a:r>
              <a:rPr lang="en-US" altLang="en-US" sz="2800">
                <a:solidFill>
                  <a:srgbClr val="001996"/>
                </a:solidFill>
              </a:rPr>
              <a:t>matter</a:t>
            </a:r>
            <a:r>
              <a:rPr lang="en-US" altLang="en-US" sz="2800"/>
              <a:t> and the </a:t>
            </a:r>
            <a:r>
              <a:rPr lang="en-US" altLang="en-US" sz="2800">
                <a:solidFill>
                  <a:srgbClr val="001996"/>
                </a:solidFill>
              </a:rPr>
              <a:t>changes</a:t>
            </a:r>
            <a:r>
              <a:rPr lang="en-US" altLang="en-US" sz="2800"/>
              <a:t> it undergoes.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7293478C-A108-4C5E-8BE5-776FEB02D6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7850" y="2413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Matter: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D69ECDDF-75D4-45A7-924A-352D88C1BC0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79400" y="1384300"/>
            <a:ext cx="8369300" cy="4114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b="1">
                <a:solidFill>
                  <a:schemeClr val="hlink"/>
                </a:solidFill>
              </a:rPr>
              <a:t>	Anything that has mass and takes up space.</a:t>
            </a:r>
          </a:p>
        </p:txBody>
      </p:sp>
      <p:pic>
        <p:nvPicPr>
          <p:cNvPr id="12292" name="Picture 9" descr="13_07">
            <a:extLst>
              <a:ext uri="{FF2B5EF4-FFF2-40B4-BE49-F238E27FC236}">
                <a16:creationId xmlns:a16="http://schemas.microsoft.com/office/drawing/2014/main" id="{E27092A2-76DA-4AA2-9C66-23A7C926AFC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044"/>
          <a:stretch>
            <a:fillRect/>
          </a:stretch>
        </p:blipFill>
        <p:spPr>
          <a:xfrm>
            <a:off x="38100" y="2438400"/>
            <a:ext cx="8928100" cy="3416300"/>
          </a:xfr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63451136-EBD9-4CB2-A88B-5E1E521E15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Matter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3180A66F-09A2-4686-AB1C-16026C14B331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0" y="5676900"/>
            <a:ext cx="8229600" cy="2362200"/>
          </a:xfrm>
        </p:spPr>
        <p:txBody>
          <a:bodyPr/>
          <a:lstStyle/>
          <a:p>
            <a:pPr eaLnBrk="1" hangingPunct="1"/>
            <a:r>
              <a:rPr lang="en-US" altLang="en-US" sz="2800"/>
              <a:t> </a:t>
            </a:r>
            <a:r>
              <a:rPr lang="en-US" altLang="en-US" sz="2800">
                <a:solidFill>
                  <a:srgbClr val="001996"/>
                </a:solidFill>
              </a:rPr>
              <a:t>Atoms</a:t>
            </a:r>
            <a:r>
              <a:rPr lang="en-US" altLang="en-US" sz="2800"/>
              <a:t> are the building blocks of matter.</a:t>
            </a:r>
          </a:p>
          <a:p>
            <a:pPr eaLnBrk="1" hangingPunct="1">
              <a:buFontTx/>
              <a:buNone/>
            </a:pPr>
            <a:r>
              <a:rPr lang="en-US" altLang="en-US" sz="2800"/>
              <a:t> </a:t>
            </a:r>
          </a:p>
        </p:txBody>
      </p:sp>
      <p:pic>
        <p:nvPicPr>
          <p:cNvPr id="14340" name="Picture 8" descr="01_01">
            <a:extLst>
              <a:ext uri="{FF2B5EF4-FFF2-40B4-BE49-F238E27FC236}">
                <a16:creationId xmlns:a16="http://schemas.microsoft.com/office/drawing/2014/main" id="{D09B6B60-0A70-4EB5-BB31-EF6672D804D3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23913" y="1187450"/>
            <a:ext cx="8320087" cy="39782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50195"/>
                  </a:srgbClr>
                </a:solidFill>
              </a14:hiddenFill>
            </a:ext>
          </a:extLst>
        </p:spPr>
      </p:pic>
      <p:pic>
        <p:nvPicPr>
          <p:cNvPr id="14341" name="Picture 16" descr="01_01">
            <a:extLst>
              <a:ext uri="{FF2B5EF4-FFF2-40B4-BE49-F238E27FC236}">
                <a16:creationId xmlns:a16="http://schemas.microsoft.com/office/drawing/2014/main" id="{38C29A2C-A073-4E98-8A91-3D8C6805D0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5713" y="1171575"/>
            <a:ext cx="1052512" cy="941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C117EDD8-7D2B-4D72-8B65-EF44704A4E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Matter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B2847A93-28FA-4548-9220-F0B1FA4A530E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57200" y="4495800"/>
            <a:ext cx="8458200" cy="2362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2800"/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 Each </a:t>
            </a:r>
            <a:r>
              <a:rPr lang="en-US" altLang="en-US" sz="2800">
                <a:solidFill>
                  <a:srgbClr val="001996"/>
                </a:solidFill>
              </a:rPr>
              <a:t>element</a:t>
            </a:r>
            <a:r>
              <a:rPr lang="en-US" altLang="en-US" sz="2800"/>
              <a:t> is made of the same kind of atom.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2800"/>
          </a:p>
          <a:p>
            <a:pPr eaLnBrk="1" hangingPunct="1">
              <a:lnSpc>
                <a:spcPct val="90000"/>
              </a:lnSpc>
            </a:pPr>
            <a:endParaRPr lang="en-US" altLang="en-US" sz="2800"/>
          </a:p>
        </p:txBody>
      </p:sp>
      <p:pic>
        <p:nvPicPr>
          <p:cNvPr id="16388" name="Picture 4" descr="01_01">
            <a:extLst>
              <a:ext uri="{FF2B5EF4-FFF2-40B4-BE49-F238E27FC236}">
                <a16:creationId xmlns:a16="http://schemas.microsoft.com/office/drawing/2014/main" id="{651F11E9-0C26-4EF2-AB19-FBF575C66BAD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55713" y="1174750"/>
            <a:ext cx="6629400" cy="31702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50195"/>
                  </a:srgbClr>
                </a:solidFill>
              </a14:hiddenFill>
            </a:ext>
          </a:extLst>
        </p:spPr>
      </p:pic>
      <p:pic>
        <p:nvPicPr>
          <p:cNvPr id="16389" name="Picture 5" descr="01_01">
            <a:extLst>
              <a:ext uri="{FF2B5EF4-FFF2-40B4-BE49-F238E27FC236}">
                <a16:creationId xmlns:a16="http://schemas.microsoft.com/office/drawing/2014/main" id="{30171FCE-9526-4636-97CA-9DD5C448CB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5713" y="1168400"/>
            <a:ext cx="1052512" cy="941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72DFC83C-2F06-4123-852C-6252F5B727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Matter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C8722060-B3A9-4771-B7DD-E7EDD5FA1FA3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0" y="4795838"/>
            <a:ext cx="9144000" cy="1290637"/>
          </a:xfrm>
        </p:spPr>
        <p:txBody>
          <a:bodyPr/>
          <a:lstStyle/>
          <a:p>
            <a:pPr eaLnBrk="1" hangingPunct="1"/>
            <a:r>
              <a:rPr lang="en-US" altLang="en-US" sz="2800"/>
              <a:t>A </a:t>
            </a:r>
            <a:r>
              <a:rPr lang="en-US" altLang="en-US" sz="2800">
                <a:solidFill>
                  <a:srgbClr val="001996"/>
                </a:solidFill>
              </a:rPr>
              <a:t>compound</a:t>
            </a:r>
            <a:r>
              <a:rPr lang="en-US" altLang="en-US" sz="2800"/>
              <a:t> is made of two or more different kinds of elements.</a:t>
            </a:r>
          </a:p>
          <a:p>
            <a:pPr eaLnBrk="1" hangingPunct="1"/>
            <a:endParaRPr lang="en-US" altLang="en-US" sz="2800"/>
          </a:p>
        </p:txBody>
      </p:sp>
      <p:pic>
        <p:nvPicPr>
          <p:cNvPr id="18436" name="Picture 4" descr="01_01">
            <a:extLst>
              <a:ext uri="{FF2B5EF4-FFF2-40B4-BE49-F238E27FC236}">
                <a16:creationId xmlns:a16="http://schemas.microsoft.com/office/drawing/2014/main" id="{73008201-E719-4FF6-8197-0BEA32D6AF3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55713" y="1174750"/>
            <a:ext cx="6629400" cy="3170238"/>
          </a:xfrm>
        </p:spPr>
      </p:pic>
      <p:pic>
        <p:nvPicPr>
          <p:cNvPr id="18437" name="Picture 5" descr="01_01">
            <a:extLst>
              <a:ext uri="{FF2B5EF4-FFF2-40B4-BE49-F238E27FC236}">
                <a16:creationId xmlns:a16="http://schemas.microsoft.com/office/drawing/2014/main" id="{428C9BFE-FCB5-4F84-A48E-83A6DD5A82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5713" y="1168400"/>
            <a:ext cx="1052512" cy="941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A428FD8A-D8BB-4C91-8BB9-7686D243B8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States of Matter</a:t>
            </a:r>
          </a:p>
        </p:txBody>
      </p:sp>
      <p:pic>
        <p:nvPicPr>
          <p:cNvPr id="20483" name="Picture 6" descr="11_01">
            <a:extLst>
              <a:ext uri="{FF2B5EF4-FFF2-40B4-BE49-F238E27FC236}">
                <a16:creationId xmlns:a16="http://schemas.microsoft.com/office/drawing/2014/main" id="{145F20A3-6F91-4AB3-80E5-D1823FE8932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884"/>
          <a:stretch>
            <a:fillRect/>
          </a:stretch>
        </p:blipFill>
        <p:spPr>
          <a:xfrm>
            <a:off x="457200" y="1865313"/>
            <a:ext cx="8153400" cy="2720975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8DE15CC-8EF9-45AA-8611-E516D75DDF37}"/>
              </a:ext>
            </a:extLst>
          </p:cNvPr>
          <p:cNvSpPr/>
          <p:nvPr/>
        </p:nvSpPr>
        <p:spPr bwMode="auto">
          <a:xfrm>
            <a:off x="2743200" y="2243138"/>
            <a:ext cx="1028700" cy="65722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en-CA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E1D555-8057-42A7-A0B9-1C116AED46D4}"/>
              </a:ext>
            </a:extLst>
          </p:cNvPr>
          <p:cNvSpPr/>
          <p:nvPr/>
        </p:nvSpPr>
        <p:spPr bwMode="auto">
          <a:xfrm>
            <a:off x="2743200" y="3181350"/>
            <a:ext cx="1028700" cy="77628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en-CA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0B1C04-6A5B-4785-A729-9CBECCEC5B36}"/>
              </a:ext>
            </a:extLst>
          </p:cNvPr>
          <p:cNvSpPr/>
          <p:nvPr/>
        </p:nvSpPr>
        <p:spPr bwMode="auto">
          <a:xfrm>
            <a:off x="5553075" y="2243138"/>
            <a:ext cx="1028700" cy="65722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en-CA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A197C6-DEBB-440F-9108-4F15C530F26D}"/>
              </a:ext>
            </a:extLst>
          </p:cNvPr>
          <p:cNvSpPr/>
          <p:nvPr/>
        </p:nvSpPr>
        <p:spPr bwMode="auto">
          <a:xfrm>
            <a:off x="5553075" y="3181350"/>
            <a:ext cx="1028700" cy="65722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en-CA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68812C-D3A7-4531-B068-FB4BD7B13859}"/>
              </a:ext>
            </a:extLst>
          </p:cNvPr>
          <p:cNvSpPr/>
          <p:nvPr/>
        </p:nvSpPr>
        <p:spPr bwMode="auto">
          <a:xfrm>
            <a:off x="1109663" y="4152900"/>
            <a:ext cx="1028700" cy="65722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en-CA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4B822F-1D4F-40F5-A702-E40DCB37A428}"/>
              </a:ext>
            </a:extLst>
          </p:cNvPr>
          <p:cNvSpPr/>
          <p:nvPr/>
        </p:nvSpPr>
        <p:spPr bwMode="auto">
          <a:xfrm>
            <a:off x="4138613" y="4152900"/>
            <a:ext cx="1028700" cy="65722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en-CA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16030B-D362-4FCB-90D4-9442EB35E083}"/>
              </a:ext>
            </a:extLst>
          </p:cNvPr>
          <p:cNvSpPr/>
          <p:nvPr/>
        </p:nvSpPr>
        <p:spPr bwMode="auto">
          <a:xfrm>
            <a:off x="6581775" y="4152900"/>
            <a:ext cx="1804988" cy="65722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en-CA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896635-03BF-4EC1-858E-A8E43D094F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" y="5443538"/>
            <a:ext cx="7758113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CA" altLang="en-US" sz="2400">
                <a:solidFill>
                  <a:schemeClr val="tx1"/>
                </a:solidFill>
              </a:rPr>
              <a:t>Can interchange by a manipulation of ____________ and _________________.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3C8246-56EE-4B69-853C-B8B119B7D8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5025" y="5373688"/>
            <a:ext cx="2641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CA" altLang="en-US" sz="2800" b="1">
                <a:solidFill>
                  <a:srgbClr val="FF0000"/>
                </a:solidFill>
              </a:rPr>
              <a:t>pressure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BA52D4-D848-4F19-8A96-575E05BB28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5759450"/>
            <a:ext cx="26400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CA" altLang="en-US" sz="2800" b="1">
                <a:solidFill>
                  <a:srgbClr val="FF0000"/>
                </a:solidFill>
              </a:rPr>
              <a:t>temperature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3" grpId="0"/>
      <p:bldP spid="4" grpId="0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F91F3B08-75BC-4AFB-934D-6B5F6823EC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98500" y="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rgbClr val="C00000"/>
                </a:solidFill>
              </a:rPr>
              <a:t>Classification of Matter</a:t>
            </a:r>
          </a:p>
        </p:txBody>
      </p:sp>
      <p:pic>
        <p:nvPicPr>
          <p:cNvPr id="33795" name="Picture 8" descr="Compound">
            <a:extLst>
              <a:ext uri="{FF2B5EF4-FFF2-40B4-BE49-F238E27FC236}">
                <a16:creationId xmlns:a16="http://schemas.microsoft.com/office/drawing/2014/main" id="{503EE3F2-EAA5-40A8-BF03-C6033760364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00300" y="1384300"/>
            <a:ext cx="5349875" cy="4953000"/>
          </a:xfrm>
        </p:spPr>
      </p:pic>
      <p:sp>
        <p:nvSpPr>
          <p:cNvPr id="33796" name="Text Box 9">
            <a:extLst>
              <a:ext uri="{FF2B5EF4-FFF2-40B4-BE49-F238E27FC236}">
                <a16:creationId xmlns:a16="http://schemas.microsoft.com/office/drawing/2014/main" id="{73C89FBF-7876-40DF-997F-E4C1686B11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3700" y="2844800"/>
            <a:ext cx="811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chemeClr val="tx1"/>
                </a:solidFill>
              </a:rPr>
              <a:t>Mud</a:t>
            </a:r>
          </a:p>
        </p:txBody>
      </p:sp>
      <p:sp>
        <p:nvSpPr>
          <p:cNvPr id="33797" name="Text Box 10">
            <a:extLst>
              <a:ext uri="{FF2B5EF4-FFF2-40B4-BE49-F238E27FC236}">
                <a16:creationId xmlns:a16="http://schemas.microsoft.com/office/drawing/2014/main" id="{C087EF26-CE4B-4034-9396-F1DC19E863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0325" y="2806700"/>
            <a:ext cx="2152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b="1">
                <a:solidFill>
                  <a:schemeClr val="tx1"/>
                </a:solidFill>
              </a:rPr>
              <a:t>salt water</a:t>
            </a:r>
          </a:p>
        </p:txBody>
      </p:sp>
      <p:sp>
        <p:nvSpPr>
          <p:cNvPr id="33798" name="Text Box 11">
            <a:extLst>
              <a:ext uri="{FF2B5EF4-FFF2-40B4-BE49-F238E27FC236}">
                <a16:creationId xmlns:a16="http://schemas.microsoft.com/office/drawing/2014/main" id="{1E49893E-0F27-4F72-9622-0B032C2CF6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7625" y="4305300"/>
            <a:ext cx="180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b="1">
                <a:solidFill>
                  <a:schemeClr val="tx1"/>
                </a:solidFill>
              </a:rPr>
              <a:t>salt water</a:t>
            </a:r>
          </a:p>
        </p:txBody>
      </p:sp>
      <p:sp>
        <p:nvSpPr>
          <p:cNvPr id="33799" name="Text Box 12">
            <a:extLst>
              <a:ext uri="{FF2B5EF4-FFF2-40B4-BE49-F238E27FC236}">
                <a16:creationId xmlns:a16="http://schemas.microsoft.com/office/drawing/2014/main" id="{FDC81A59-40DC-45E0-A2EC-A9B448CE2B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1625" y="4241800"/>
            <a:ext cx="9890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chemeClr val="tx1"/>
                </a:solidFill>
              </a:rPr>
              <a:t>water</a:t>
            </a:r>
          </a:p>
        </p:txBody>
      </p:sp>
      <p:sp>
        <p:nvSpPr>
          <p:cNvPr id="33800" name="Text Box 13">
            <a:extLst>
              <a:ext uri="{FF2B5EF4-FFF2-40B4-BE49-F238E27FC236}">
                <a16:creationId xmlns:a16="http://schemas.microsoft.com/office/drawing/2014/main" id="{BDD728EC-9355-46A0-A841-A0492FA30C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000" y="5638800"/>
            <a:ext cx="981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chemeClr val="tx1"/>
                </a:solidFill>
              </a:rPr>
              <a:t>water</a:t>
            </a:r>
          </a:p>
        </p:txBody>
      </p:sp>
      <p:sp>
        <p:nvSpPr>
          <p:cNvPr id="33801" name="Text Box 14">
            <a:extLst>
              <a:ext uri="{FF2B5EF4-FFF2-40B4-BE49-F238E27FC236}">
                <a16:creationId xmlns:a16="http://schemas.microsoft.com/office/drawing/2014/main" id="{300858C5-7195-4FA9-9DA1-FD2B6A1E7D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6025" y="5622925"/>
            <a:ext cx="1250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chemeClr val="tx1"/>
                </a:solidFill>
              </a:rPr>
              <a:t>oxygen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3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6" grpId="0"/>
      <p:bldP spid="33797" grpId="0"/>
      <p:bldP spid="33798" grpId="0"/>
      <p:bldP spid="33799" grpId="0"/>
      <p:bldP spid="33800" grpId="0"/>
      <p:bldP spid="3380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792393EE-8196-4EBC-B885-967DFAB255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Mixtures and Compounds</a:t>
            </a:r>
          </a:p>
        </p:txBody>
      </p:sp>
      <p:pic>
        <p:nvPicPr>
          <p:cNvPr id="24579" name="Picture 8" descr="01_05">
            <a:extLst>
              <a:ext uri="{FF2B5EF4-FFF2-40B4-BE49-F238E27FC236}">
                <a16:creationId xmlns:a16="http://schemas.microsoft.com/office/drawing/2014/main" id="{CACD2A22-1D9A-495A-B91B-0545EA78B7E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9400" y="2790825"/>
            <a:ext cx="8634413" cy="2800350"/>
          </a:xfrm>
        </p:spPr>
      </p:pic>
      <p:sp>
        <p:nvSpPr>
          <p:cNvPr id="36868" name="Text Box 9">
            <a:extLst>
              <a:ext uri="{FF2B5EF4-FFF2-40B4-BE49-F238E27FC236}">
                <a16:creationId xmlns:a16="http://schemas.microsoft.com/office/drawing/2014/main" id="{28D9C25F-76D0-4E8F-9F19-6EDB20EC5C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700" y="1376363"/>
            <a:ext cx="20828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chemeClr val="tx1"/>
                </a:solidFill>
              </a:rPr>
              <a:t>Element	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chemeClr val="tx1"/>
                </a:solidFill>
              </a:rPr>
              <a:t>(atoms)	</a:t>
            </a:r>
          </a:p>
        </p:txBody>
      </p:sp>
      <p:sp>
        <p:nvSpPr>
          <p:cNvPr id="36869" name="Text Box 10">
            <a:extLst>
              <a:ext uri="{FF2B5EF4-FFF2-40B4-BE49-F238E27FC236}">
                <a16:creationId xmlns:a16="http://schemas.microsoft.com/office/drawing/2014/main" id="{637C52CF-C96B-4E20-BEE4-FECD4FF4A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8500" y="1828800"/>
            <a:ext cx="1806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chemeClr val="tx1"/>
                </a:solidFill>
              </a:rPr>
              <a:t>Mixture</a:t>
            </a:r>
          </a:p>
        </p:txBody>
      </p:sp>
      <p:sp>
        <p:nvSpPr>
          <p:cNvPr id="36870" name="Text Box 11">
            <a:extLst>
              <a:ext uri="{FF2B5EF4-FFF2-40B4-BE49-F238E27FC236}">
                <a16:creationId xmlns:a16="http://schemas.microsoft.com/office/drawing/2014/main" id="{942C8EA7-1D77-4567-AFCF-8E42295907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5600700"/>
            <a:ext cx="1143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tx1"/>
                </a:solidFill>
              </a:rPr>
              <a:t>He, Ne</a:t>
            </a:r>
          </a:p>
        </p:txBody>
      </p:sp>
      <p:sp>
        <p:nvSpPr>
          <p:cNvPr id="7" name="Text Box 9">
            <a:extLst>
              <a:ext uri="{FF2B5EF4-FFF2-40B4-BE49-F238E27FC236}">
                <a16:creationId xmlns:a16="http://schemas.microsoft.com/office/drawing/2014/main" id="{0F3F9302-4E71-46A2-BE37-4C8BEE7410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6350" y="1404938"/>
            <a:ext cx="19304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chemeClr val="tx1"/>
                </a:solidFill>
              </a:rPr>
              <a:t>Compound</a:t>
            </a:r>
            <a:endParaRPr lang="en-US" altLang="en-US" sz="2400" dirty="0">
              <a:solidFill>
                <a:schemeClr val="tx1"/>
              </a:solidFill>
            </a:endParaRP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(molecules)</a:t>
            </a: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99F7D2F1-20A5-46E9-837F-CEBAF9E8FC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4888" y="1400175"/>
            <a:ext cx="1930400" cy="101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chemeClr val="tx1"/>
                </a:solidFill>
              </a:rPr>
              <a:t>Compound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chemeClr val="tx1"/>
                </a:solidFill>
              </a:rPr>
              <a:t>(molecules)</a:t>
            </a:r>
          </a:p>
        </p:txBody>
      </p:sp>
      <p:sp>
        <p:nvSpPr>
          <p:cNvPr id="9" name="Text Box 11">
            <a:extLst>
              <a:ext uri="{FF2B5EF4-FFF2-40B4-BE49-F238E27FC236}">
                <a16:creationId xmlns:a16="http://schemas.microsoft.com/office/drawing/2014/main" id="{070858E0-639A-4DBD-B80F-34A16EE960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0" y="5624513"/>
            <a:ext cx="16192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tx1"/>
                </a:solidFill>
              </a:rPr>
              <a:t>N</a:t>
            </a:r>
            <a:r>
              <a:rPr lang="en-US" altLang="en-US" sz="2400" baseline="-25000">
                <a:solidFill>
                  <a:schemeClr val="tx1"/>
                </a:solidFill>
              </a:rPr>
              <a:t>2</a:t>
            </a:r>
            <a:r>
              <a:rPr lang="en-US" altLang="en-US" sz="2400">
                <a:solidFill>
                  <a:schemeClr val="tx1"/>
                </a:solidFill>
              </a:rPr>
              <a:t>, O</a:t>
            </a:r>
            <a:r>
              <a:rPr lang="en-US" altLang="en-US" sz="2400" baseline="-25000">
                <a:solidFill>
                  <a:schemeClr val="tx1"/>
                </a:solidFill>
              </a:rPr>
              <a:t>2</a:t>
            </a:r>
            <a:r>
              <a:rPr lang="en-US" altLang="en-US" sz="2400">
                <a:solidFill>
                  <a:schemeClr val="tx1"/>
                </a:solidFill>
              </a:rPr>
              <a:t>, Cl</a:t>
            </a:r>
            <a:r>
              <a:rPr lang="en-US" altLang="en-US" sz="2400" baseline="-25000">
                <a:solidFill>
                  <a:schemeClr val="tx1"/>
                </a:solidFill>
              </a:rPr>
              <a:t>2</a:t>
            </a:r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10" name="Text Box 11">
            <a:extLst>
              <a:ext uri="{FF2B5EF4-FFF2-40B4-BE49-F238E27FC236}">
                <a16:creationId xmlns:a16="http://schemas.microsoft.com/office/drawing/2014/main" id="{C5AF504B-15F6-434E-8423-EC2B485698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5663" y="5595938"/>
            <a:ext cx="11747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tx1"/>
                </a:solidFill>
              </a:rPr>
              <a:t>Mix      </a:t>
            </a:r>
          </a:p>
        </p:txBody>
      </p:sp>
      <p:sp>
        <p:nvSpPr>
          <p:cNvPr id="11" name="Text Box 11">
            <a:extLst>
              <a:ext uri="{FF2B5EF4-FFF2-40B4-BE49-F238E27FC236}">
                <a16:creationId xmlns:a16="http://schemas.microsoft.com/office/drawing/2014/main" id="{819C334F-36C9-4AA3-8B88-B07680487B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2488" y="5643563"/>
            <a:ext cx="2235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tx1"/>
                </a:solidFill>
              </a:rPr>
              <a:t>CO</a:t>
            </a:r>
            <a:r>
              <a:rPr lang="en-US" altLang="en-US" sz="2400" baseline="-25000">
                <a:solidFill>
                  <a:schemeClr val="tx1"/>
                </a:solidFill>
              </a:rPr>
              <a:t>2</a:t>
            </a:r>
            <a:r>
              <a:rPr lang="en-US" altLang="en-US" sz="2400">
                <a:solidFill>
                  <a:schemeClr val="tx1"/>
                </a:solidFill>
              </a:rPr>
              <a:t>, H</a:t>
            </a:r>
            <a:r>
              <a:rPr lang="en-US" altLang="en-US" sz="2400" baseline="-25000">
                <a:solidFill>
                  <a:schemeClr val="tx1"/>
                </a:solidFill>
              </a:rPr>
              <a:t>2</a:t>
            </a:r>
            <a:r>
              <a:rPr lang="en-US" altLang="en-US" sz="2400">
                <a:solidFill>
                  <a:schemeClr val="tx1"/>
                </a:solidFill>
              </a:rPr>
              <a:t>O, NH</a:t>
            </a:r>
            <a:r>
              <a:rPr lang="en-US" altLang="en-US" sz="2400" baseline="-25000">
                <a:solidFill>
                  <a:schemeClr val="tx1"/>
                </a:solidFill>
              </a:rPr>
              <a:t>3</a:t>
            </a:r>
            <a:endParaRPr lang="en-US" altLang="en-US" sz="24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6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8" grpId="0"/>
      <p:bldP spid="36869" grpId="0"/>
      <p:bldP spid="36870" grpId="0"/>
      <p:bldP spid="7" grpId="0"/>
      <p:bldP spid="8" grpId="0"/>
      <p:bldP spid="9" grpId="0"/>
      <p:bldP spid="10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E38D5E85-537E-4A0A-815A-6C27A7EC9D4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867025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en-US" sz="9600"/>
              <a:t>Properties and Changes of Matter</a:t>
            </a: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>
            <a:extLst>
              <a:ext uri="{FF2B5EF4-FFF2-40B4-BE49-F238E27FC236}">
                <a16:creationId xmlns:a16="http://schemas.microsoft.com/office/drawing/2014/main" id="{4EBC0F60-0ED7-43B1-8152-2E98424788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419600"/>
          </a:xfrm>
        </p:spPr>
        <p:txBody>
          <a:bodyPr/>
          <a:lstStyle/>
          <a:p>
            <a:pPr eaLnBrk="1" hangingPunct="1"/>
            <a:r>
              <a:rPr lang="en-US" altLang="en-US" sz="2800"/>
              <a:t>Physical Properties:</a:t>
            </a:r>
          </a:p>
          <a:p>
            <a:pPr lvl="1" eaLnBrk="1" hangingPunct="1">
              <a:buFont typeface="Arial" panose="020B0604020202020204" pitchFamily="34" charset="0"/>
              <a:buChar char="□"/>
            </a:pPr>
            <a:r>
              <a:rPr lang="en-US" altLang="en-US" sz="2400"/>
              <a:t>Must be observed </a:t>
            </a:r>
            <a:r>
              <a:rPr lang="en-US" altLang="en-US" sz="2400" b="1"/>
              <a:t>without changing </a:t>
            </a:r>
            <a:r>
              <a:rPr lang="en-US" altLang="en-US" sz="2400"/>
              <a:t>a compound/element into </a:t>
            </a:r>
            <a:r>
              <a:rPr lang="en-US" altLang="en-US" sz="2400" b="1"/>
              <a:t>another</a:t>
            </a:r>
            <a:r>
              <a:rPr lang="en-US" altLang="en-US" sz="2400"/>
              <a:t> compound/element.</a:t>
            </a:r>
          </a:p>
          <a:p>
            <a:pPr lvl="2" eaLnBrk="1" hangingPunct="1"/>
            <a:r>
              <a:rPr lang="en-US" altLang="en-US" sz="2000" b="1">
                <a:solidFill>
                  <a:srgbClr val="001996"/>
                </a:solidFill>
              </a:rPr>
              <a:t>Boiling point, density, mass, volume, etc.</a:t>
            </a:r>
          </a:p>
          <a:p>
            <a:pPr eaLnBrk="1" hangingPunct="1"/>
            <a:r>
              <a:rPr lang="en-US" altLang="en-US" sz="2800"/>
              <a:t>Chemical Properties:</a:t>
            </a:r>
          </a:p>
          <a:p>
            <a:pPr lvl="1" eaLnBrk="1" hangingPunct="1">
              <a:buFont typeface="Arial" panose="020B0604020202020204" pitchFamily="34" charset="0"/>
              <a:buChar char="□"/>
            </a:pPr>
            <a:r>
              <a:rPr lang="en-US" altLang="en-US" sz="2400"/>
              <a:t>Can </a:t>
            </a:r>
            <a:r>
              <a:rPr lang="en-US" altLang="en-US" sz="2400" i="1"/>
              <a:t>only</a:t>
            </a:r>
            <a:r>
              <a:rPr lang="en-US" altLang="en-US" sz="2400"/>
              <a:t> be observed when a compound/element is </a:t>
            </a:r>
            <a:r>
              <a:rPr lang="en-US" altLang="en-US" sz="2400" b="1"/>
              <a:t>changed</a:t>
            </a:r>
            <a:r>
              <a:rPr lang="en-US" altLang="en-US" sz="2400"/>
              <a:t> into </a:t>
            </a:r>
            <a:r>
              <a:rPr lang="en-US" altLang="en-US" sz="2400" b="1"/>
              <a:t>another</a:t>
            </a:r>
            <a:r>
              <a:rPr lang="en-US" altLang="en-US" sz="2400"/>
              <a:t> compound/element.</a:t>
            </a:r>
          </a:p>
          <a:p>
            <a:pPr lvl="2" eaLnBrk="1" hangingPunct="1"/>
            <a:r>
              <a:rPr lang="en-US" altLang="en-US" sz="2000" b="1">
                <a:solidFill>
                  <a:srgbClr val="001996"/>
                </a:solidFill>
              </a:rPr>
              <a:t>Flammability, corrosiveness, reactivity with acid, etc.</a:t>
            </a:r>
          </a:p>
        </p:txBody>
      </p:sp>
      <p:sp>
        <p:nvSpPr>
          <p:cNvPr id="28675" name="Rectangle 4">
            <a:extLst>
              <a:ext uri="{FF2B5EF4-FFF2-40B4-BE49-F238E27FC236}">
                <a16:creationId xmlns:a16="http://schemas.microsoft.com/office/drawing/2014/main" id="{4DA27CA4-2A57-4A4B-BAF6-B2D43EFF9D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" y="355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400" b="1">
                <a:solidFill>
                  <a:srgbClr val="008000"/>
                </a:solidFill>
                <a:cs typeface="Arial" panose="020B0604020202020204" pitchFamily="34" charset="0"/>
              </a:rPr>
              <a:t>Properties of Matter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3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12834E77-EC24-40FF-B562-A775FAE5AD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413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b="1">
                <a:solidFill>
                  <a:srgbClr val="008000"/>
                </a:solidFill>
                <a:cs typeface="Arial" panose="020B0604020202020204" pitchFamily="34" charset="0"/>
              </a:rPr>
              <a:t>Properties of Matter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D1B04675-BF44-465B-884D-1386B8B42E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2325" y="16383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en-US"/>
              <a:t>Intensive Properties:</a:t>
            </a:r>
          </a:p>
          <a:p>
            <a:pPr lvl="1" eaLnBrk="1" hangingPunct="1">
              <a:buFont typeface="Arial" panose="020B0604020202020204" pitchFamily="34" charset="0"/>
              <a:buChar char="□"/>
            </a:pPr>
            <a:r>
              <a:rPr lang="en-US" altLang="en-US" b="1"/>
              <a:t>Independent</a:t>
            </a:r>
            <a:r>
              <a:rPr lang="en-US" altLang="en-US"/>
              <a:t> of the </a:t>
            </a:r>
            <a:r>
              <a:rPr lang="en-US" altLang="en-US" b="1"/>
              <a:t>amount </a:t>
            </a:r>
            <a:r>
              <a:rPr lang="en-US" altLang="en-US"/>
              <a:t>of the matter that is present.</a:t>
            </a:r>
          </a:p>
          <a:p>
            <a:pPr lvl="2" eaLnBrk="1" hangingPunct="1"/>
            <a:r>
              <a:rPr lang="en-US" altLang="en-US" b="1">
                <a:solidFill>
                  <a:srgbClr val="001996"/>
                </a:solidFill>
              </a:rPr>
              <a:t>Density, boiling point, colour, etc.</a:t>
            </a:r>
          </a:p>
          <a:p>
            <a:pPr eaLnBrk="1" hangingPunct="1"/>
            <a:r>
              <a:rPr lang="en-US" altLang="en-US"/>
              <a:t>Extensive Properties:</a:t>
            </a:r>
          </a:p>
          <a:p>
            <a:pPr lvl="1" eaLnBrk="1" hangingPunct="1">
              <a:buFont typeface="Arial" panose="020B0604020202020204" pitchFamily="34" charset="0"/>
              <a:buChar char="□"/>
            </a:pPr>
            <a:r>
              <a:rPr lang="en-US" altLang="en-US" b="1"/>
              <a:t>Dependent</a:t>
            </a:r>
            <a:r>
              <a:rPr lang="en-US" altLang="en-US"/>
              <a:t> upon the </a:t>
            </a:r>
            <a:r>
              <a:rPr lang="en-US" altLang="en-US" b="1"/>
              <a:t>amount</a:t>
            </a:r>
            <a:r>
              <a:rPr lang="en-US" altLang="en-US"/>
              <a:t> of the matter present.</a:t>
            </a:r>
          </a:p>
          <a:p>
            <a:pPr lvl="2" eaLnBrk="1" hangingPunct="1"/>
            <a:r>
              <a:rPr lang="en-US" altLang="en-US" b="1">
                <a:solidFill>
                  <a:srgbClr val="001996"/>
                </a:solidFill>
              </a:rPr>
              <a:t>Mass, volume, energy, etc.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17F5ECEF-B980-4507-B90B-E495756339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310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b="1">
                <a:solidFill>
                  <a:srgbClr val="008000"/>
                </a:solidFill>
                <a:cs typeface="Arial" panose="020B0604020202020204" pitchFamily="34" charset="0"/>
              </a:rPr>
              <a:t>Changes of Matter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A1A931EE-A010-4894-BC6B-E44E13E1FA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3100" y="1836738"/>
            <a:ext cx="7772400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Physical Changes:</a:t>
            </a:r>
          </a:p>
          <a:p>
            <a:pPr lvl="1" eaLnBrk="1" hangingPunct="1">
              <a:buFont typeface="Arial" panose="020B0604020202020204" pitchFamily="34" charset="0"/>
              <a:buChar char="□"/>
              <a:defRPr/>
            </a:pPr>
            <a:r>
              <a:rPr lang="en-US" altLang="en-US" dirty="0"/>
              <a:t>Changes in matter that </a:t>
            </a:r>
            <a:r>
              <a:rPr lang="en-US" altLang="en-US" b="1" dirty="0"/>
              <a:t>do not change the composition </a:t>
            </a:r>
            <a:r>
              <a:rPr lang="en-US" altLang="en-US" dirty="0"/>
              <a:t>of a substance.</a:t>
            </a:r>
          </a:p>
          <a:p>
            <a:pPr lvl="2" eaLnBrk="1" hangingPunct="1">
              <a:defRPr/>
            </a:pPr>
            <a:r>
              <a:rPr lang="en-US" altLang="en-US" b="1" dirty="0">
                <a:solidFill>
                  <a:srgbClr val="001996"/>
                </a:solidFill>
              </a:rPr>
              <a:t>Changes of state, temperature, volume, etc.</a:t>
            </a:r>
          </a:p>
          <a:p>
            <a:pPr marL="0" indent="0" eaLnBrk="1" hangingPunct="1">
              <a:buFontTx/>
              <a:buNone/>
              <a:defRPr/>
            </a:pPr>
            <a:endParaRPr lang="en-US" altLang="en-US" dirty="0"/>
          </a:p>
          <a:p>
            <a:pPr eaLnBrk="1" hangingPunct="1">
              <a:defRPr/>
            </a:pPr>
            <a:r>
              <a:rPr lang="en-US" altLang="en-US" dirty="0"/>
              <a:t>Chemical Changes:</a:t>
            </a:r>
          </a:p>
          <a:p>
            <a:pPr lvl="1" eaLnBrk="1" hangingPunct="1">
              <a:buFont typeface="Arial" panose="020B0604020202020204" pitchFamily="34" charset="0"/>
              <a:buChar char="□"/>
              <a:defRPr/>
            </a:pPr>
            <a:r>
              <a:rPr lang="en-US" altLang="en-US" dirty="0"/>
              <a:t>Changes that result in </a:t>
            </a:r>
            <a:r>
              <a:rPr lang="en-US" altLang="en-US" b="1" dirty="0"/>
              <a:t>new substances</a:t>
            </a:r>
            <a:r>
              <a:rPr lang="en-US" altLang="en-US" dirty="0"/>
              <a:t>.</a:t>
            </a:r>
            <a:endParaRPr lang="en-US" altLang="en-US" dirty="0">
              <a:solidFill>
                <a:schemeClr val="accent2"/>
              </a:solidFill>
            </a:endParaRPr>
          </a:p>
          <a:p>
            <a:pPr lvl="2" eaLnBrk="1" hangingPunct="1">
              <a:defRPr/>
            </a:pPr>
            <a:r>
              <a:rPr lang="en-US" altLang="en-US" b="1" dirty="0">
                <a:solidFill>
                  <a:srgbClr val="001996"/>
                </a:solidFill>
              </a:rPr>
              <a:t>Combustion, oxidation, decomposition, etc.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18C8DB8A-AD56-407F-AECF-150347640F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3100" y="-101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b="1"/>
              <a:t>Chemical Reactions</a:t>
            </a:r>
          </a:p>
        </p:txBody>
      </p:sp>
      <p:sp>
        <p:nvSpPr>
          <p:cNvPr id="34819" name="Rectangle 4">
            <a:extLst>
              <a:ext uri="{FF2B5EF4-FFF2-40B4-BE49-F238E27FC236}">
                <a16:creationId xmlns:a16="http://schemas.microsoft.com/office/drawing/2014/main" id="{F772DE6B-CED4-4AE1-B649-020E39C1563D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-177800" y="5702300"/>
            <a:ext cx="8890000" cy="1524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800" b="1">
                <a:solidFill>
                  <a:srgbClr val="008000"/>
                </a:solidFill>
              </a:rPr>
              <a:t>	In the course of a chemical reaction, the reacting substances are converted to new substances.</a:t>
            </a:r>
          </a:p>
        </p:txBody>
      </p:sp>
      <p:pic>
        <p:nvPicPr>
          <p:cNvPr id="34820" name="Picture 7" descr="01_10">
            <a:extLst>
              <a:ext uri="{FF2B5EF4-FFF2-40B4-BE49-F238E27FC236}">
                <a16:creationId xmlns:a16="http://schemas.microsoft.com/office/drawing/2014/main" id="{B1B50B3D-9163-4CB7-86F6-6D5FAA4752F8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40" b="4800"/>
          <a:stretch>
            <a:fillRect/>
          </a:stretch>
        </p:blipFill>
        <p:spPr>
          <a:xfrm>
            <a:off x="444500" y="738188"/>
            <a:ext cx="8139113" cy="4946650"/>
          </a:xfrm>
        </p:spPr>
      </p:pic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E83728A2-A004-4AF5-878A-75AE871162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9300" y="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b="1"/>
              <a:t>Compounds</a:t>
            </a:r>
          </a:p>
        </p:txBody>
      </p:sp>
      <p:pic>
        <p:nvPicPr>
          <p:cNvPr id="36867" name="Picture 7" descr="01_07">
            <a:extLst>
              <a:ext uri="{FF2B5EF4-FFF2-40B4-BE49-F238E27FC236}">
                <a16:creationId xmlns:a16="http://schemas.microsoft.com/office/drawing/2014/main" id="{586E5484-2F97-4F73-920D-35837B83124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10"/>
          <a:stretch>
            <a:fillRect/>
          </a:stretch>
        </p:blipFill>
        <p:spPr>
          <a:xfrm>
            <a:off x="901700" y="1358900"/>
            <a:ext cx="7620000" cy="4960938"/>
          </a:xfrm>
        </p:spPr>
      </p:pic>
      <p:sp>
        <p:nvSpPr>
          <p:cNvPr id="36868" name="Rectangle 3">
            <a:extLst>
              <a:ext uri="{FF2B5EF4-FFF2-40B4-BE49-F238E27FC236}">
                <a16:creationId xmlns:a16="http://schemas.microsoft.com/office/drawing/2014/main" id="{A01568DC-B2F9-4CCB-B439-02C63BC8073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143000"/>
            <a:ext cx="3810000" cy="1905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800"/>
              <a:t>	Compounds can be broken down into </a:t>
            </a:r>
            <a:r>
              <a:rPr lang="en-US" altLang="en-US" sz="2800" b="1">
                <a:solidFill>
                  <a:srgbClr val="008000"/>
                </a:solidFill>
              </a:rPr>
              <a:t>elements</a:t>
            </a:r>
            <a:r>
              <a:rPr lang="en-US" altLang="en-US" sz="2800"/>
              <a:t>.</a:t>
            </a:r>
          </a:p>
        </p:txBody>
      </p:sp>
    </p:spTree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0A1C1027-B0B9-4F89-A335-2C5A38A5E4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br>
              <a:rPr lang="en-US" altLang="en-US" b="1"/>
            </a:br>
            <a:r>
              <a:rPr lang="en-US" altLang="en-US" b="1"/>
              <a:t>Relative abundance of elements</a:t>
            </a:r>
          </a:p>
        </p:txBody>
      </p:sp>
      <p:pic>
        <p:nvPicPr>
          <p:cNvPr id="38915" name="Picture 5" descr="01_06">
            <a:extLst>
              <a:ext uri="{FF2B5EF4-FFF2-40B4-BE49-F238E27FC236}">
                <a16:creationId xmlns:a16="http://schemas.microsoft.com/office/drawing/2014/main" id="{013AFE7C-397F-4730-A36E-D4BF3ECE2E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2825"/>
            <a:ext cx="8874125" cy="457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5" descr="01_T01">
            <a:extLst>
              <a:ext uri="{FF2B5EF4-FFF2-40B4-BE49-F238E27FC236}">
                <a16:creationId xmlns:a16="http://schemas.microsoft.com/office/drawing/2014/main" id="{D74D2DAF-073B-485D-ADCB-75009CBF70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922338"/>
            <a:ext cx="8716963" cy="3306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3" name="Rectangle 6">
            <a:extLst>
              <a:ext uri="{FF2B5EF4-FFF2-40B4-BE49-F238E27FC236}">
                <a16:creationId xmlns:a16="http://schemas.microsoft.com/office/drawing/2014/main" id="{B14873A2-5BC5-4AD5-B34B-53EF3FD71F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3286125"/>
            <a:ext cx="8534400" cy="203200"/>
          </a:xfrm>
          <a:prstGeom prst="rect">
            <a:avLst/>
          </a:prstGeom>
          <a:gradFill rotWithShape="0">
            <a:gsLst>
              <a:gs pos="0">
                <a:srgbClr val="FF0000">
                  <a:alpha val="35001"/>
                </a:srgbClr>
              </a:gs>
              <a:gs pos="100000">
                <a:srgbClr val="760000">
                  <a:alpha val="35001"/>
                </a:srgb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40964" name="Rectangle 7">
            <a:extLst>
              <a:ext uri="{FF2B5EF4-FFF2-40B4-BE49-F238E27FC236}">
                <a16:creationId xmlns:a16="http://schemas.microsoft.com/office/drawing/2014/main" id="{5DB5E078-8585-4A53-BF0B-10B18CEBB5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" y="1800225"/>
            <a:ext cx="8534400" cy="169863"/>
          </a:xfrm>
          <a:prstGeom prst="rect">
            <a:avLst/>
          </a:prstGeom>
          <a:gradFill rotWithShape="0">
            <a:gsLst>
              <a:gs pos="0">
                <a:srgbClr val="FF0000">
                  <a:alpha val="35001"/>
                </a:srgbClr>
              </a:gs>
              <a:gs pos="100000">
                <a:srgbClr val="760000">
                  <a:alpha val="35001"/>
                </a:srgb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40965" name="Rectangle 8">
            <a:extLst>
              <a:ext uri="{FF2B5EF4-FFF2-40B4-BE49-F238E27FC236}">
                <a16:creationId xmlns:a16="http://schemas.microsoft.com/office/drawing/2014/main" id="{CA472A03-D74B-4827-AAC1-3551ADD04D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100" y="3463925"/>
            <a:ext cx="8534400" cy="203200"/>
          </a:xfrm>
          <a:prstGeom prst="rect">
            <a:avLst/>
          </a:prstGeom>
          <a:solidFill>
            <a:srgbClr val="001996">
              <a:alpha val="34901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40966" name="Rectangle 9">
            <a:extLst>
              <a:ext uri="{FF2B5EF4-FFF2-40B4-BE49-F238E27FC236}">
                <a16:creationId xmlns:a16="http://schemas.microsoft.com/office/drawing/2014/main" id="{8B771BAC-33D9-4BC8-A772-ED56CBA88D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968500"/>
            <a:ext cx="8534400" cy="415925"/>
          </a:xfrm>
          <a:prstGeom prst="rect">
            <a:avLst/>
          </a:prstGeom>
          <a:solidFill>
            <a:srgbClr val="008000">
              <a:alpha val="34901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40967" name="Rectangle 10">
            <a:extLst>
              <a:ext uri="{FF2B5EF4-FFF2-40B4-BE49-F238E27FC236}">
                <a16:creationId xmlns:a16="http://schemas.microsoft.com/office/drawing/2014/main" id="{FF5523C1-3FF0-4E22-AD58-3042AB7B78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765800"/>
            <a:ext cx="1828800" cy="246063"/>
          </a:xfrm>
          <a:prstGeom prst="rect">
            <a:avLst/>
          </a:prstGeom>
          <a:gradFill rotWithShape="0">
            <a:gsLst>
              <a:gs pos="0">
                <a:srgbClr val="FF0000">
                  <a:alpha val="35001"/>
                </a:srgbClr>
              </a:gs>
              <a:gs pos="100000">
                <a:srgbClr val="760000">
                  <a:alpha val="35001"/>
                </a:srgb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40968" name="Text Box 11">
            <a:extLst>
              <a:ext uri="{FF2B5EF4-FFF2-40B4-BE49-F238E27FC236}">
                <a16:creationId xmlns:a16="http://schemas.microsoft.com/office/drawing/2014/main" id="{A074FCEB-1BFB-4B7A-B67F-082A48FFCC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825" y="5694363"/>
            <a:ext cx="1657350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Acids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Bases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Pure elements</a:t>
            </a:r>
          </a:p>
        </p:txBody>
      </p:sp>
      <p:sp>
        <p:nvSpPr>
          <p:cNvPr id="40969" name="Rectangle 12">
            <a:extLst>
              <a:ext uri="{FF2B5EF4-FFF2-40B4-BE49-F238E27FC236}">
                <a16:creationId xmlns:a16="http://schemas.microsoft.com/office/drawing/2014/main" id="{23A622E2-1C5C-4716-B3E5-2C4F0AF6F4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00" y="6302375"/>
            <a:ext cx="1866900" cy="263525"/>
          </a:xfrm>
          <a:prstGeom prst="rect">
            <a:avLst/>
          </a:prstGeom>
          <a:solidFill>
            <a:srgbClr val="008000">
              <a:alpha val="34901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40970" name="Rectangle 13">
            <a:extLst>
              <a:ext uri="{FF2B5EF4-FFF2-40B4-BE49-F238E27FC236}">
                <a16:creationId xmlns:a16="http://schemas.microsoft.com/office/drawing/2014/main" id="{064328D7-912A-4D7E-B67E-E70C9A604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00" y="6032500"/>
            <a:ext cx="1854200" cy="241300"/>
          </a:xfrm>
          <a:prstGeom prst="rect">
            <a:avLst/>
          </a:prstGeom>
          <a:solidFill>
            <a:srgbClr val="001996">
              <a:alpha val="34901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6BA94943-6D67-4CF0-8731-2C912DCB8F7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847975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9600"/>
              <a:t>Separation of Mixtures</a:t>
            </a:r>
          </a:p>
        </p:txBody>
      </p:sp>
    </p:spTree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7" descr="01_12">
            <a:extLst>
              <a:ext uri="{FF2B5EF4-FFF2-40B4-BE49-F238E27FC236}">
                <a16:creationId xmlns:a16="http://schemas.microsoft.com/office/drawing/2014/main" id="{485127DD-AF5A-4F6A-B908-1AB4E6059F17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64"/>
          <a:stretch>
            <a:fillRect/>
          </a:stretch>
        </p:blipFill>
        <p:spPr>
          <a:xfrm>
            <a:off x="533400" y="1828800"/>
            <a:ext cx="4324350" cy="3733800"/>
          </a:xfrm>
        </p:spPr>
      </p:pic>
      <p:sp>
        <p:nvSpPr>
          <p:cNvPr id="45059" name="Rectangle 2">
            <a:extLst>
              <a:ext uri="{FF2B5EF4-FFF2-40B4-BE49-F238E27FC236}">
                <a16:creationId xmlns:a16="http://schemas.microsoft.com/office/drawing/2014/main" id="{A64E3992-37D0-4591-83F6-18F588F582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Filtration:</a:t>
            </a:r>
          </a:p>
        </p:txBody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54BD0C2F-E4C3-4664-AA68-29426AB2BF6B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648200" y="1905000"/>
            <a:ext cx="4114800" cy="4191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800"/>
              <a:t>	Separates a </a:t>
            </a:r>
            <a:r>
              <a:rPr lang="en-US" altLang="en-US" sz="2800">
                <a:solidFill>
                  <a:srgbClr val="001996"/>
                </a:solidFill>
              </a:rPr>
              <a:t>heterogeneous mixture; </a:t>
            </a:r>
            <a:r>
              <a:rPr lang="en-US" altLang="en-US" sz="2800"/>
              <a:t>solid substances from liquids and solutions.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2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10" descr="01_13">
            <a:extLst>
              <a:ext uri="{FF2B5EF4-FFF2-40B4-BE49-F238E27FC236}">
                <a16:creationId xmlns:a16="http://schemas.microsoft.com/office/drawing/2014/main" id="{817768C2-AF7B-48C9-8077-CFE235598262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48"/>
          <a:stretch>
            <a:fillRect/>
          </a:stretch>
        </p:blipFill>
        <p:spPr>
          <a:xfrm>
            <a:off x="1600200" y="800100"/>
            <a:ext cx="5943600" cy="4811713"/>
          </a:xfrm>
        </p:spPr>
      </p:pic>
      <p:sp>
        <p:nvSpPr>
          <p:cNvPr id="47107" name="Rectangle 2">
            <a:extLst>
              <a:ext uri="{FF2B5EF4-FFF2-40B4-BE49-F238E27FC236}">
                <a16:creationId xmlns:a16="http://schemas.microsoft.com/office/drawing/2014/main" id="{B71BB5ED-0459-4D75-B41B-A9F36BD25D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588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Distillation:</a:t>
            </a:r>
          </a:p>
        </p:txBody>
      </p:sp>
      <p:sp>
        <p:nvSpPr>
          <p:cNvPr id="23556" name="Rectangle 7">
            <a:extLst>
              <a:ext uri="{FF2B5EF4-FFF2-40B4-BE49-F238E27FC236}">
                <a16:creationId xmlns:a16="http://schemas.microsoft.com/office/drawing/2014/main" id="{3621A429-7924-4338-A676-A5CEEE3EC853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685800" y="5688013"/>
            <a:ext cx="7696200" cy="990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800"/>
              <a:t>	Separates a </a:t>
            </a:r>
            <a:r>
              <a:rPr lang="en-US" altLang="en-US" sz="2800">
                <a:solidFill>
                  <a:srgbClr val="000080"/>
                </a:solidFill>
              </a:rPr>
              <a:t>homogeneous</a:t>
            </a:r>
            <a:r>
              <a:rPr lang="en-US" altLang="en-US" sz="2800"/>
              <a:t> mixture of liquids on the basis of differences in boiling point.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6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8029DFEF-32CE-463E-B233-A927D1228E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3100" y="-508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b="1">
                <a:solidFill>
                  <a:srgbClr val="008000"/>
                </a:solidFill>
                <a:cs typeface="Arial" panose="020B0604020202020204" pitchFamily="34" charset="0"/>
              </a:rPr>
              <a:t>Chromatography:</a:t>
            </a:r>
          </a:p>
        </p:txBody>
      </p:sp>
      <p:sp>
        <p:nvSpPr>
          <p:cNvPr id="48131" name="Rectangle 4">
            <a:extLst>
              <a:ext uri="{FF2B5EF4-FFF2-40B4-BE49-F238E27FC236}">
                <a16:creationId xmlns:a16="http://schemas.microsoft.com/office/drawing/2014/main" id="{1C205F98-0B0A-4D28-9B66-FF55C7242309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609600" y="1058863"/>
            <a:ext cx="7848600" cy="13843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800"/>
              <a:t>	Separates homogeneous mixtures on the basis of differences in </a:t>
            </a:r>
            <a:r>
              <a:rPr lang="en-US" altLang="en-US" sz="2800">
                <a:solidFill>
                  <a:schemeClr val="accent2"/>
                </a:solidFill>
              </a:rPr>
              <a:t>solubility in a solvent</a:t>
            </a:r>
            <a:r>
              <a:rPr lang="en-US" altLang="en-US" sz="2800"/>
              <a:t>, or in </a:t>
            </a:r>
            <a:r>
              <a:rPr lang="en-US" altLang="en-US" sz="2800">
                <a:solidFill>
                  <a:schemeClr val="accent2"/>
                </a:solidFill>
              </a:rPr>
              <a:t>binding to a solid matrix</a:t>
            </a:r>
            <a:r>
              <a:rPr lang="en-US" altLang="en-US" sz="2800"/>
              <a:t>.</a:t>
            </a:r>
          </a:p>
        </p:txBody>
      </p:sp>
      <p:pic>
        <p:nvPicPr>
          <p:cNvPr id="49156" name="Picture 7" descr="01_14">
            <a:extLst>
              <a:ext uri="{FF2B5EF4-FFF2-40B4-BE49-F238E27FC236}">
                <a16:creationId xmlns:a16="http://schemas.microsoft.com/office/drawing/2014/main" id="{FDC9BE20-164C-4D99-8EF0-95AD391C2EA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528"/>
          <a:stretch>
            <a:fillRect/>
          </a:stretch>
        </p:blipFill>
        <p:spPr>
          <a:xfrm>
            <a:off x="990600" y="2476500"/>
            <a:ext cx="7086600" cy="2887663"/>
          </a:xfrm>
        </p:spPr>
      </p:pic>
      <p:sp>
        <p:nvSpPr>
          <p:cNvPr id="48133" name="Text Box 8">
            <a:extLst>
              <a:ext uri="{FF2B5EF4-FFF2-40B4-BE49-F238E27FC236}">
                <a16:creationId xmlns:a16="http://schemas.microsoft.com/office/drawing/2014/main" id="{C27786DD-758E-4763-A9A7-DA5296AB51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325" y="5229225"/>
            <a:ext cx="7686675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tx1"/>
                </a:solidFill>
              </a:rPr>
              <a:t>Separation techniques were critical to the development of the basic theories of chemistry.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tx1"/>
                </a:solidFill>
              </a:rPr>
              <a:t>How do we know there are homogeneous mixtures? We can </a:t>
            </a:r>
            <a:r>
              <a:rPr lang="en-US" altLang="en-US" sz="2400" b="1">
                <a:solidFill>
                  <a:schemeClr val="accent2"/>
                </a:solidFill>
              </a:rPr>
              <a:t>separate</a:t>
            </a:r>
            <a:r>
              <a:rPr lang="en-US" altLang="en-US" sz="2400">
                <a:solidFill>
                  <a:schemeClr val="tx1"/>
                </a:solidFill>
              </a:rPr>
              <a:t> them.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8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81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>
            <a:extLst>
              <a:ext uri="{FF2B5EF4-FFF2-40B4-BE49-F238E27FC236}">
                <a16:creationId xmlns:a16="http://schemas.microsoft.com/office/drawing/2014/main" id="{E0964D07-7A9B-4298-8189-86A17D3015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5400" b="1">
                <a:solidFill>
                  <a:schemeClr val="accent2"/>
                </a:solidFill>
              </a:rPr>
              <a:t>Homework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11CC6-E990-433F-B25F-79748BB7DA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919288"/>
            <a:ext cx="8229600" cy="4000500"/>
          </a:xfrm>
        </p:spPr>
        <p:txBody>
          <a:bodyPr/>
          <a:lstStyle/>
          <a:p>
            <a:r>
              <a:rPr lang="en-CA" altLang="en-US" b="1"/>
              <a:t>Read pp. 4-14</a:t>
            </a:r>
          </a:p>
          <a:p>
            <a:r>
              <a:rPr lang="en-CA" altLang="en-US" b="1"/>
              <a:t>Exercises #1.1-1.4, 1.11, 1.13, 1.15*, 1.17, 1.19, 1.21</a:t>
            </a:r>
          </a:p>
          <a:p>
            <a:r>
              <a:rPr lang="en-CA" altLang="en-US">
                <a:sym typeface="Wingdings" panose="05000000000000000000" pitchFamily="2" charset="2"/>
              </a:rPr>
              <a:t>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ＭＳ Ｐゴシック"/>
        <a:cs typeface="ＭＳ Ｐゴシック"/>
      </a:majorFont>
      <a:minorFont>
        <a:latin typeface="Arial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65" charset="0"/>
            <a:ea typeface="ＭＳ Ｐゴシック" pitchFamily="-65" charset="-128"/>
            <a:cs typeface="ＭＳ Ｐゴシック" pitchFamily="-65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65" charset="0"/>
            <a:ea typeface="ＭＳ Ｐゴシック" pitchFamily="-65" charset="-128"/>
            <a:cs typeface="ＭＳ Ｐゴシック" pitchFamily="-65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35026</TotalTime>
  <Words>511</Words>
  <Application>Microsoft Office PowerPoint</Application>
  <PresentationFormat>On-screen Show (4:3)</PresentationFormat>
  <Paragraphs>124</Paragraphs>
  <Slides>25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Berlin Sans FB Demi</vt:lpstr>
      <vt:lpstr>BlairMdITC TT-Medium</vt:lpstr>
      <vt:lpstr>Times New Roman</vt:lpstr>
      <vt:lpstr>Blank Presentation</vt:lpstr>
      <vt:lpstr>Chapter 1 Introduction: Matter and Measurement</vt:lpstr>
      <vt:lpstr>PowerPoint Presentation</vt:lpstr>
      <vt:lpstr>Scientific Method:</vt:lpstr>
      <vt:lpstr>PowerPoint Presentation</vt:lpstr>
      <vt:lpstr>Chemistry:</vt:lpstr>
      <vt:lpstr>Matter:</vt:lpstr>
      <vt:lpstr>Matter</vt:lpstr>
      <vt:lpstr>Matter</vt:lpstr>
      <vt:lpstr>Matter</vt:lpstr>
      <vt:lpstr>States of Matter</vt:lpstr>
      <vt:lpstr>Classification of Matter</vt:lpstr>
      <vt:lpstr>Mixtures and Compounds</vt:lpstr>
      <vt:lpstr>Properties and Changes of Matter</vt:lpstr>
      <vt:lpstr>PowerPoint Presentation</vt:lpstr>
      <vt:lpstr>Properties of Matter</vt:lpstr>
      <vt:lpstr>Changes of Matter</vt:lpstr>
      <vt:lpstr>Chemical Reactions</vt:lpstr>
      <vt:lpstr>Compounds</vt:lpstr>
      <vt:lpstr> Relative abundance of elements</vt:lpstr>
      <vt:lpstr>PowerPoint Presentation</vt:lpstr>
      <vt:lpstr>Separation of Mixtures</vt:lpstr>
      <vt:lpstr>Filtration:</vt:lpstr>
      <vt:lpstr>Distillation:</vt:lpstr>
      <vt:lpstr>Chromatography:</vt:lpstr>
      <vt:lpstr>Homework</vt:lpstr>
    </vt:vector>
  </TitlesOfParts>
  <Company>msu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Introduction: Matter and Measurement</dc:title>
  <dc:creator>jjwilson</dc:creator>
  <cp:lastModifiedBy>Wilson, Joanna (Marshall McLuhan)</cp:lastModifiedBy>
  <cp:revision>147</cp:revision>
  <cp:lastPrinted>2010-09-08T14:47:32Z</cp:lastPrinted>
  <dcterms:created xsi:type="dcterms:W3CDTF">2009-09-08T15:32:17Z</dcterms:created>
  <dcterms:modified xsi:type="dcterms:W3CDTF">2019-09-10T22:56:20Z</dcterms:modified>
</cp:coreProperties>
</file>