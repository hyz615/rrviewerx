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342" r:id="rId3"/>
    <p:sldId id="349" r:id="rId4"/>
    <p:sldId id="267" r:id="rId5"/>
    <p:sldId id="341" r:id="rId6"/>
    <p:sldId id="337" r:id="rId7"/>
    <p:sldId id="309" r:id="rId8"/>
    <p:sldId id="310" r:id="rId9"/>
    <p:sldId id="311" r:id="rId10"/>
    <p:sldId id="278" r:id="rId11"/>
    <p:sldId id="351" r:id="rId12"/>
    <p:sldId id="320" r:id="rId13"/>
    <p:sldId id="350" r:id="rId14"/>
    <p:sldId id="328" r:id="rId15"/>
    <p:sldId id="329" r:id="rId16"/>
    <p:sldId id="330" r:id="rId17"/>
    <p:sldId id="333" r:id="rId18"/>
    <p:sldId id="343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40">
          <p15:clr>
            <a:srgbClr val="A4A3A4"/>
          </p15:clr>
        </p15:guide>
        <p15:guide id="2" pos="2592">
          <p15:clr>
            <a:srgbClr val="A4A3A4"/>
          </p15:clr>
        </p15:guide>
        <p15:guide id="3" pos="31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996"/>
    <a:srgbClr val="FF0000"/>
    <a:srgbClr val="0080FF"/>
    <a:srgbClr val="FF6FCF"/>
    <a:srgbClr val="008000"/>
    <a:srgbClr val="FF8000"/>
    <a:srgbClr val="F7F7F7"/>
    <a:srgbClr val="0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0929"/>
  </p:normalViewPr>
  <p:slideViewPr>
    <p:cSldViewPr snapToGrid="0">
      <p:cViewPr varScale="1">
        <p:scale>
          <a:sx n="72" d="100"/>
          <a:sy n="72" d="100"/>
        </p:scale>
        <p:origin x="1350" y="66"/>
      </p:cViewPr>
      <p:guideLst>
        <p:guide orient="horz" pos="1440"/>
        <p:guide pos="2592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61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16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81B3ABE-FA2E-44B8-AFAB-B48E8D6F15A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16C0084-CB8E-4805-B09D-615B859EB83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F45AD9B-3C1C-4E50-865C-1238985947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CFE21992-D90B-420D-8F48-95C96BD86CD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0415A697-9A1C-4905-B48E-C1388CB8548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97B053D1-76C3-44A7-B1FE-8395FD611A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45BA759-7E56-460B-AD3E-5BE4E76F29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08433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ＭＳ Ｐゴシック" pitchFamily="-65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>
            <a:extLst>
              <a:ext uri="{FF2B5EF4-FFF2-40B4-BE49-F238E27FC236}">
                <a16:creationId xmlns:a16="http://schemas.microsoft.com/office/drawing/2014/main" id="{F71A03AC-F2BF-4786-9E53-E82C97F797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429FF61-1A75-46C7-B33D-2FCD1579F331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50D3AF96-D049-4063-9572-6E993A4A82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D09902F9-8EBE-4255-A5EB-1D0D501B76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0801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81AF2C06-84C8-4B1F-B93A-A5D57A8C78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D82F06E-6147-4F97-BE80-1D5EDA47A13D}" type="slidenum">
              <a:rPr lang="en-US" altLang="en-US" sz="1200" smtClean="0"/>
              <a:pPr/>
              <a:t>3</a:t>
            </a:fld>
            <a:endParaRPr lang="en-US" altLang="en-US" sz="12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69C3A7BD-BF0C-4B8C-80EC-BC70EC232A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39E70751-3FE2-418F-8F9C-192FF5076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1163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813272A8-6D25-48B6-A4B1-F1EAF30E7E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A9FA4C5-19E5-4A33-BED9-853770DB120C}" type="slidenum">
              <a:rPr lang="en-US" altLang="en-US" sz="1200" smtClean="0"/>
              <a:pPr/>
              <a:t>4</a:t>
            </a:fld>
            <a:endParaRPr lang="en-US" altLang="en-US" sz="120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F01F707B-1B63-47EE-AC10-42DCA54939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6843B220-3E7C-40F9-B492-3B4E53CDD7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2929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2F5E78F5-3B2D-4B41-87BE-77CC6354DFE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4522D5D-94A4-47A3-B74F-1B9AC940DC65}" type="slidenum">
              <a:rPr lang="en-US" altLang="en-US" sz="1200"/>
              <a:pPr algn="r"/>
              <a:t>5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14C43DF-082D-43C6-A928-48EF3D4206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35E4989-7278-4D84-8F7E-A1EE7A50D9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7528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2530801A-9C8C-4958-BEF5-3F3928F129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880F512-0BA5-4B06-BFE5-6E7989756C4E}" type="slidenum">
              <a:rPr lang="en-US" altLang="en-US" sz="1200" smtClean="0"/>
              <a:pPr/>
              <a:t>6</a:t>
            </a:fld>
            <a:endParaRPr lang="en-US" altLang="en-US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185F5B2-8B2D-4247-B269-83A8517018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627C4BC4-72B3-43DD-A6DB-3D8F93F950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696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FBB1CFA-8963-47A3-94AE-38469D28B4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7F2C31E2-DB30-4AA1-8408-34F8A34A9EF4}" type="slidenum">
              <a:rPr lang="en-US" altLang="en-US" sz="1200" smtClean="0"/>
              <a:pPr/>
              <a:t>7</a:t>
            </a:fld>
            <a:endParaRPr lang="en-US" altLang="en-US" sz="120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DB8663BE-B196-44DE-91E6-F58F6581A0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ECF2AF97-3D41-41AA-9299-51D0E3E8A7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816815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60D2DEE6-41C2-4F68-B265-6E07AC2DAF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3C65036-EED5-4C75-A9FF-E937E25F7437}" type="slidenum">
              <a:rPr lang="en-US" altLang="en-US" sz="1200" smtClean="0"/>
              <a:pPr/>
              <a:t>8</a:t>
            </a:fld>
            <a:endParaRPr lang="en-US" altLang="en-US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F19D48C9-C0E7-47B9-9B09-B5CAE7B864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AF485886-7D50-4588-BBD1-E94D3342D5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2895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6F3A9697-118C-4217-BD16-8E1B6734EF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56858BB-8BBE-409A-8FC4-149642D2E21B}" type="slidenum">
              <a:rPr lang="en-US" altLang="en-US" sz="1200" smtClean="0"/>
              <a:pPr/>
              <a:t>9</a:t>
            </a:fld>
            <a:endParaRPr lang="en-US" altLang="en-US" sz="1200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1E3BF9F1-09DE-46E1-A8C7-A268140C02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C9D3D63-0AFD-4193-9BC5-5B73773025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17100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6BCB04A7-A30F-4069-98AB-875C1EAC6D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1E37F23-827F-48FD-AB99-619E2E854DB2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03F205D2-8419-40DF-A559-1A4E995AA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B65E31B6-D3D1-443F-B216-C5803E19B8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727898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495AA4D6-277F-48D3-B936-88B9BA67D7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9C0E5FB-8252-4AAF-A2BF-1D95CB009344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6445768C-681E-4660-B3A4-73958F0A86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7679C992-BEA3-4BB4-A41E-D75362F8A5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32803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00206386-92CB-4586-96C7-F476D79847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6851A05-7D8C-42D3-85AD-7F0880DB495D}" type="slidenum">
              <a:rPr lang="en-US" altLang="en-US" sz="1200" smtClean="0"/>
              <a:pPr/>
              <a:t>12</a:t>
            </a:fld>
            <a:endParaRPr lang="en-US" altLang="en-US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64E2B0CF-14FA-44F6-80E7-D8C65F2BB0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212E4A28-C6A6-4FD2-A2F1-75C186E9B6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8472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445498F3-2FAC-460F-9115-68F23F9CAE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54F81AA-62F5-444E-92D2-F735B4442A30}" type="slidenum">
              <a:rPr lang="en-US" altLang="en-US" sz="1200" smtClean="0"/>
              <a:pPr/>
              <a:t>13</a:t>
            </a:fld>
            <a:endParaRPr lang="en-US" altLang="en-US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36F4735B-4A1B-47BF-B467-9655814755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C68C383D-6B4E-4560-91F7-353D6292CA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5174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7FBCB70A-B8C9-446D-887E-51FA20217D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387DE3D-E0CA-4511-B5D9-A06F203C0836}" type="slidenum">
              <a:rPr lang="en-US" altLang="en-US" sz="1200" smtClean="0"/>
              <a:pPr/>
              <a:t>14</a:t>
            </a:fld>
            <a:endParaRPr lang="en-US" altLang="en-US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759AC9E0-748D-491B-9D7D-18394C5292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776BAD35-39D7-41E2-99F0-7B438E2C85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77537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C2FE12A2-88DC-4201-84C9-3414D5A768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E0414AF-DF6E-4F5D-89FA-CD3CE929B968}" type="slidenum">
              <a:rPr lang="en-US" altLang="en-US" sz="1200" smtClean="0"/>
              <a:pPr/>
              <a:t>15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58C16ABE-7892-4164-977D-4E562078A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F078F48E-39BC-44AA-9551-4C57911FE5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74371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860DEB54-8BE6-49E9-82B2-40D1D4303D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4B96F42-0374-4860-B9BB-5284D2E3D93A}" type="slidenum">
              <a:rPr lang="en-US" altLang="en-US" sz="1200" smtClean="0"/>
              <a:pPr/>
              <a:t>16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8798BBF8-7BCA-4971-A76D-30EAC50779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0CE6FDA3-AD51-413E-A3B5-9A9C7B3DF8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8425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521A0BBF-4004-445C-A868-E5DF92CAA3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D481AC-381F-4A63-AC99-692A7D98B7B9}" type="slidenum">
              <a:rPr lang="en-US" altLang="en-US" sz="1200" smtClean="0"/>
              <a:pPr/>
              <a:t>17</a:t>
            </a:fld>
            <a:endParaRPr lang="en-US" altLang="en-US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A45E3295-7BD4-4759-9A6C-29D9D3007C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F513B5C1-233C-4B96-8543-02F7C13DCA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45894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CFF1FA-B843-4C44-8990-1BAAF5D021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CF4B32-00C7-4248-81AD-06CEDBDFA2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3EE96C-30F5-45A5-866B-6D741DB94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8EDB6B-2572-41B6-B755-EA28E26082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4959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05511F-B01C-46E8-A91D-BB9AA13C63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468506-1993-497B-9F5A-2DB0AD0EB7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A88E08-CA27-45E0-A69C-840384C61D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642B8-68D5-43D1-843D-F94DF11281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685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B76E83-4413-4127-A740-855FDC691A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7FB157-905B-4D4C-9FB2-7B0D69323C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D0C687D-8BFA-4B37-90C1-8C305FABAF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510042-921C-408C-BF83-FDEF8FDFA5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6308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2068E2-C775-4201-9FEC-5E23964837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BD24DC-8858-45BB-8947-E5ABED3554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11A06F-F24F-4792-B5F0-3F5301EE1E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E991C7-FFB9-4A82-90E8-54E83180AB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8608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2B0E1FE-1A4B-43F6-B058-D1D7D1DA97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ACCD321-989F-4379-99DB-CFFE8D4A9CD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28B3591-30A8-4F84-B9FF-74AA95CEF3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ED3012-17BD-4086-BADC-C2CE12154E9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5844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D734A21-AD9E-4208-85EB-670064A947E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0C90FB3-FD2F-4ABD-BF2D-5C6D309EA5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07E4259-51D5-4B8D-B95C-DE404D43E5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9193E9-7C2E-4ECA-AF87-D86C6F20A1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14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CD9CB01-CCA8-4F25-8252-44B0CB907F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F1B38E2-2F44-4D02-9581-030394446F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208296B-CEFA-456D-B945-750535C2E7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A0CEDD-CD0C-4EB4-98CD-217326F972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73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EE149-0038-4F73-AE02-519CE93FC6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82DD89-549B-4900-A371-472BF3E936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F50C33-640D-4C9A-B1E4-7BFABF096F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A2D42F-5A40-4E0C-9C44-379CCF6AE0B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778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B4956D-3804-4513-92A9-DA7B73F380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83704-7532-431C-9861-49EC25FB72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71FF41-2EFC-4825-9E1C-66B64D5904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05B35-BA21-4872-BA63-B918732345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2674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37B89D-E79E-4EE7-AEF0-4E90C19FC5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DE985A-A01E-4A55-9A27-2B757B187A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1A13B6D-935B-4884-8658-B5C30DDC43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53736B-7EF6-402F-BF73-263B7620C3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928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FE239E-31D8-4DE3-9ED2-C0587F699FA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B0B83D8-E37C-49F5-8947-B932298604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1A5A3E-86F4-4AEA-BC5D-645E946CD5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8B8E79-5111-4E28-BA02-EB0BFF0189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5809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541331-D5D9-4B0F-BCE7-3DC0C365BC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03F6AD-109B-4024-892E-21C4621498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9B0D29-A9E6-4CD4-9866-70D72BF8E7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2D179-EFD0-494A-873C-62FB768CAB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5956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2BB8FE-183B-4BF9-AA46-3B3C26A0E34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4FF3EF-E134-4191-8073-7E1B96F2FF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FB6215-F53A-47C6-909B-D9B8DABA2B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6DBCA-5355-441C-9564-8A51CEEF78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449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DE042F-4286-4187-B524-DAEBEA1AF58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CD24C-D43F-4A00-925C-6FB5C2312FF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ECF861-F399-4369-9537-1551570D4C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1583F2-B09D-4BD2-805E-44E80D85D4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3448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9FE1D-86FE-4268-86A4-94E9582254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62BE58-31CB-4A6A-B15A-F2532E5BF8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443E45-832F-4AC6-AB15-B16E09DCC2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73FF7E-654F-475E-95FD-D3DC1B0CC0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5088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917D597-C74B-4D42-B862-5F564FD788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BCD9474-D1BA-4468-9312-892A33013F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4507633-BFB3-4DFF-8639-BB43723A412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066459E-6749-4990-9B03-983ADA38F7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30D026A-BC0B-49DE-95AF-F79579F5111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031BF50A-DE3C-4EB4-A8D5-F472EA8D12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grpSp>
        <p:nvGrpSpPr>
          <p:cNvPr id="1031" name="Group 9">
            <a:extLst>
              <a:ext uri="{FF2B5EF4-FFF2-40B4-BE49-F238E27FC236}">
                <a16:creationId xmlns:a16="http://schemas.microsoft.com/office/drawing/2014/main" id="{5E1896D1-AD9F-4CC3-9C5E-212F9B839F8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772400" y="5486400"/>
            <a:ext cx="1371600" cy="1371600"/>
            <a:chOff x="4896" y="3456"/>
            <a:chExt cx="864" cy="864"/>
          </a:xfrm>
        </p:grpSpPr>
        <p:pic>
          <p:nvPicPr>
            <p:cNvPr id="1032" name="Picture 7" descr="spine icon">
              <a:extLst>
                <a:ext uri="{FF2B5EF4-FFF2-40B4-BE49-F238E27FC236}">
                  <a16:creationId xmlns:a16="http://schemas.microsoft.com/office/drawing/2014/main" id="{7142E751-117A-4075-9687-7AF2422B243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8">
              <a:extLst>
                <a:ext uri="{FF2B5EF4-FFF2-40B4-BE49-F238E27FC236}">
                  <a16:creationId xmlns:a16="http://schemas.microsoft.com/office/drawing/2014/main" id="{6E99A919-B759-4DE8-9455-74757754EBC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65" y="3696"/>
              <a:ext cx="726" cy="4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defRPr/>
              </a:pPr>
              <a:r>
                <a:rPr lang="en-US" altLang="en-US" sz="1400">
                  <a:solidFill>
                    <a:srgbClr val="C82E32"/>
                  </a:solidFill>
                  <a:latin typeface="Times New Roman" panose="02020603050405020304" pitchFamily="18" charset="0"/>
                </a:rPr>
                <a:t>Matter</a:t>
              </a:r>
            </a:p>
            <a:p>
              <a:pPr algn="ctr">
                <a:defRPr/>
              </a:pPr>
              <a:r>
                <a:rPr lang="en-US" altLang="en-US" sz="1400">
                  <a:solidFill>
                    <a:srgbClr val="C82E32"/>
                  </a:solidFill>
                  <a:latin typeface="Times New Roman" panose="02020603050405020304" pitchFamily="18" charset="0"/>
                </a:rPr>
                <a:t>And</a:t>
              </a:r>
            </a:p>
            <a:p>
              <a:pPr algn="ctr">
                <a:defRPr/>
              </a:pPr>
              <a:r>
                <a:rPr lang="en-US" altLang="en-US" sz="1400">
                  <a:solidFill>
                    <a:srgbClr val="C82E32"/>
                  </a:solidFill>
                  <a:latin typeface="Times New Roman" panose="02020603050405020304" pitchFamily="18" charset="0"/>
                </a:rPr>
                <a:t>Measurement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C82E32"/>
          </a:solidFill>
          <a:latin typeface="Arial" pitchFamily="-65" charset="0"/>
          <a:ea typeface="ＭＳ Ｐゴシック" pitchFamily="-65" charset="-128"/>
          <a:cs typeface="ＭＳ Ｐゴシック" pitchFamily="-65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C82E3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C82E32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C82E32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C82E32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C82E3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9.w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wmf"/><Relationship Id="rId5" Type="http://schemas.openxmlformats.org/officeDocument/2006/relationships/image" Target="../media/image5.w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wmf"/><Relationship Id="rId14" Type="http://schemas.openxmlformats.org/officeDocument/2006/relationships/oleObject" Target="../embeddings/oleObject6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15.wmf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2.wmf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4.wmf"/><Relationship Id="rId5" Type="http://schemas.openxmlformats.org/officeDocument/2006/relationships/image" Target="../media/image11.wmf"/><Relationship Id="rId15" Type="http://schemas.openxmlformats.org/officeDocument/2006/relationships/image" Target="../media/image16.wmf"/><Relationship Id="rId10" Type="http://schemas.openxmlformats.org/officeDocument/2006/relationships/oleObject" Target="../embeddings/oleObject10.bin"/><Relationship Id="rId4" Type="http://schemas.openxmlformats.org/officeDocument/2006/relationships/oleObject" Target="../embeddings/oleObject7.bin"/><Relationship Id="rId9" Type="http://schemas.openxmlformats.org/officeDocument/2006/relationships/image" Target="../media/image13.wmf"/><Relationship Id="rId14" Type="http://schemas.openxmlformats.org/officeDocument/2006/relationships/oleObject" Target="../embeddings/oleObject1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4.bin"/><Relationship Id="rId11" Type="http://schemas.openxmlformats.org/officeDocument/2006/relationships/image" Target="../media/image20.wmf"/><Relationship Id="rId5" Type="http://schemas.openxmlformats.org/officeDocument/2006/relationships/image" Target="../media/image17.wmf"/><Relationship Id="rId10" Type="http://schemas.openxmlformats.org/officeDocument/2006/relationships/oleObject" Target="../embeddings/oleObject16.bin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image" Target="../media/image25.wmf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23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42D82CE-85D5-4765-8DD6-5650DC08C47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" y="2891307"/>
            <a:ext cx="8839200" cy="1143000"/>
          </a:xfrm>
        </p:spPr>
        <p:txBody>
          <a:bodyPr/>
          <a:lstStyle/>
          <a:p>
            <a:pPr eaLnBrk="1" hangingPunct="1"/>
            <a:r>
              <a:rPr lang="en-US" altLang="en-US" sz="5400" dirty="0"/>
              <a:t>Chapter 1</a:t>
            </a:r>
            <a:br>
              <a:rPr lang="en-US" altLang="en-US" sz="5400" dirty="0"/>
            </a:br>
            <a:r>
              <a:rPr lang="en-US" altLang="en-US" sz="5400" dirty="0"/>
              <a:t>1.5 Uncertainty in Measurement &amp; Dimensional Analysis</a:t>
            </a:r>
            <a:endParaRPr lang="en-US" altLang="en-US" dirty="0"/>
          </a:p>
        </p:txBody>
      </p:sp>
      <p:sp>
        <p:nvSpPr>
          <p:cNvPr id="3075" name="Text Box 4">
            <a:extLst>
              <a:ext uri="{FF2B5EF4-FFF2-40B4-BE49-F238E27FC236}">
                <a16:creationId xmlns:a16="http://schemas.microsoft.com/office/drawing/2014/main" id="{DD94D7D1-AABE-4F3F-B533-D9E326E73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4325" y="76200"/>
            <a:ext cx="6340475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i="1" dirty="0"/>
              <a:t>Chemistry, The Central Science</a:t>
            </a:r>
            <a:r>
              <a:rPr lang="en-US" altLang="en-US" sz="2400" dirty="0"/>
              <a:t>, 12</a:t>
            </a:r>
            <a:r>
              <a:rPr lang="en-US" altLang="en-US" sz="2400" baseline="30000" dirty="0"/>
              <a:t>th</a:t>
            </a:r>
            <a:r>
              <a:rPr lang="en-US" altLang="en-US" sz="2400" dirty="0"/>
              <a:t> edition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 dirty="0"/>
              <a:t>Theodore L. Brown; H. Eugene LeMay, Jr.; and Bruce E. </a:t>
            </a:r>
            <a:r>
              <a:rPr lang="en-US" altLang="en-US" sz="2400" dirty="0" err="1"/>
              <a:t>Bursten</a:t>
            </a:r>
            <a:endParaRPr lang="en-US" altLang="en-US" sz="2400" dirty="0"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8E58C-70B8-412F-8D9A-0A87BDC7DA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15938" y="1665288"/>
            <a:ext cx="8229600" cy="463391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CA" altLang="en-US" dirty="0"/>
              <a:t>By the end of class you will be able to…</a:t>
            </a:r>
          </a:p>
          <a:p>
            <a:pPr marL="0" indent="0">
              <a:buFontTx/>
              <a:buNone/>
            </a:pPr>
            <a:endParaRPr lang="en-CA" altLang="en-US" sz="1600" dirty="0"/>
          </a:p>
          <a:p>
            <a:pPr marL="514350" indent="-514350">
              <a:buFont typeface="+mj-lt"/>
              <a:buAutoNum type="arabicPeriod"/>
            </a:pPr>
            <a:r>
              <a:rPr lang="en-CA" altLang="en-US" dirty="0"/>
              <a:t>Identify the uncertainty in measurements.</a:t>
            </a:r>
          </a:p>
          <a:p>
            <a:pPr marL="514350" indent="-514350">
              <a:buFont typeface="+mj-lt"/>
              <a:buAutoNum type="arabicPeriod"/>
            </a:pPr>
            <a:r>
              <a:rPr lang="en-CA" altLang="en-US" dirty="0"/>
              <a:t> Convert units using dimensional analysis.</a:t>
            </a:r>
          </a:p>
        </p:txBody>
      </p:sp>
      <p:sp>
        <p:nvSpPr>
          <p:cNvPr id="5123" name="WordArt 2" descr="1.5 Five Key Equations for Motion with Uniform Acceleration">
            <a:extLst>
              <a:ext uri="{FF2B5EF4-FFF2-40B4-BE49-F238E27FC236}">
                <a16:creationId xmlns:a16="http://schemas.microsoft.com/office/drawing/2014/main" id="{181391E1-62D7-48BA-9ACA-32EB3801742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8975" y="357188"/>
            <a:ext cx="7881938" cy="63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CA" sz="115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Berlin Sans FB Demi" panose="020E0802020502020306" pitchFamily="34" charset="0"/>
              </a:rPr>
              <a:t>Learning Goals: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F39BE07D-CA01-4C70-B16E-A1A9449B01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Uncertainty in Measurements</a:t>
            </a:r>
          </a:p>
        </p:txBody>
      </p:sp>
      <p:sp>
        <p:nvSpPr>
          <p:cNvPr id="74757" name="Rectangle 3">
            <a:extLst>
              <a:ext uri="{FF2B5EF4-FFF2-40B4-BE49-F238E27FC236}">
                <a16:creationId xmlns:a16="http://schemas.microsoft.com/office/drawing/2014/main" id="{766025D6-4E9F-49E7-BC51-FDB8E39BAE2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71450" y="1316038"/>
            <a:ext cx="8801100" cy="11430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tx1"/>
                </a:solidFill>
              </a:rPr>
              <a:t>Different measuring devices have different uses and different degrees of accuracy/precision.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93F575-081D-4FF9-96BA-78D34218F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" y="3017838"/>
            <a:ext cx="8318500" cy="285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7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0F6DB6D3-982D-4F48-AC94-0FCE3A34E9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Uncertainty in Measurements</a:t>
            </a:r>
          </a:p>
        </p:txBody>
      </p:sp>
      <p:pic>
        <p:nvPicPr>
          <p:cNvPr id="32771" name="Picture 9" descr="01_20">
            <a:extLst>
              <a:ext uri="{FF2B5EF4-FFF2-40B4-BE49-F238E27FC236}">
                <a16:creationId xmlns:a16="http://schemas.microsoft.com/office/drawing/2014/main" id="{3C2A469D-2D7D-492B-954D-20908A55458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2"/>
          <a:stretch>
            <a:fillRect/>
          </a:stretch>
        </p:blipFill>
        <p:spPr>
          <a:xfrm>
            <a:off x="685800" y="1157288"/>
            <a:ext cx="7818438" cy="4543425"/>
          </a:xfrm>
        </p:spPr>
      </p:pic>
      <p:sp>
        <p:nvSpPr>
          <p:cNvPr id="74756" name="Text Box 10">
            <a:extLst>
              <a:ext uri="{FF2B5EF4-FFF2-40B4-BE49-F238E27FC236}">
                <a16:creationId xmlns:a16="http://schemas.microsoft.com/office/drawing/2014/main" id="{FA20FE1C-0F9B-4339-9C04-550718209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7225" y="6061075"/>
            <a:ext cx="52657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8000"/>
                </a:solidFill>
              </a:rPr>
              <a:t>Which are more accurate?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4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2A279F98-63C9-4CD3-A520-00232A53D7D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Uncertainty in Measurements</a:t>
            </a:r>
          </a:p>
        </p:txBody>
      </p:sp>
      <p:pic>
        <p:nvPicPr>
          <p:cNvPr id="34819" name="Picture 9" descr="01_20">
            <a:extLst>
              <a:ext uri="{FF2B5EF4-FFF2-40B4-BE49-F238E27FC236}">
                <a16:creationId xmlns:a16="http://schemas.microsoft.com/office/drawing/2014/main" id="{605FEDE3-693F-4EA1-8830-F26BCC33F9AD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42"/>
          <a:stretch>
            <a:fillRect/>
          </a:stretch>
        </p:blipFill>
        <p:spPr>
          <a:xfrm>
            <a:off x="349250" y="1625600"/>
            <a:ext cx="7569200" cy="4397375"/>
          </a:xfrm>
        </p:spPr>
      </p:pic>
      <p:sp>
        <p:nvSpPr>
          <p:cNvPr id="76804" name="Text Box 10">
            <a:extLst>
              <a:ext uri="{FF2B5EF4-FFF2-40B4-BE49-F238E27FC236}">
                <a16:creationId xmlns:a16="http://schemas.microsoft.com/office/drawing/2014/main" id="{567DCAA9-89BD-4705-AE21-52D8CAB16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7225" y="6061075"/>
            <a:ext cx="48498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solidFill>
                  <a:srgbClr val="008000"/>
                </a:solidFill>
              </a:rPr>
              <a:t>It depends on amount…</a:t>
            </a:r>
          </a:p>
        </p:txBody>
      </p:sp>
      <p:sp>
        <p:nvSpPr>
          <p:cNvPr id="34821" name="Text Box 6">
            <a:extLst>
              <a:ext uri="{FF2B5EF4-FFF2-40B4-BE49-F238E27FC236}">
                <a16:creationId xmlns:a16="http://schemas.microsoft.com/office/drawing/2014/main" id="{AE2B6F5C-E8B4-40D6-98EE-18CCFAA1E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2193925"/>
            <a:ext cx="2284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Larger volumes</a:t>
            </a:r>
          </a:p>
        </p:txBody>
      </p:sp>
      <p:sp>
        <p:nvSpPr>
          <p:cNvPr id="34822" name="Text Box 7">
            <a:extLst>
              <a:ext uri="{FF2B5EF4-FFF2-40B4-BE49-F238E27FC236}">
                <a16:creationId xmlns:a16="http://schemas.microsoft.com/office/drawing/2014/main" id="{494FD028-68A6-408C-9B56-C6B6795DAB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2225" y="1787525"/>
            <a:ext cx="13192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Smaller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volumes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6707484B-07FC-4E08-B16C-0C60EA7AB2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Exact versus inexact numbers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7616CDC-73B0-465D-B7FB-080CB4E484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b="1" u="sng">
                <a:solidFill>
                  <a:srgbClr val="008000"/>
                </a:solidFill>
              </a:rPr>
              <a:t>Exact				Inexact</a:t>
            </a:r>
          </a:p>
          <a:p>
            <a:pPr eaLnBrk="1" hangingPunct="1">
              <a:buFontTx/>
              <a:buNone/>
            </a:pPr>
            <a:r>
              <a:rPr lang="en-US" altLang="en-US"/>
              <a:t>1000 g/kg			        ruler measure</a:t>
            </a:r>
          </a:p>
          <a:p>
            <a:pPr eaLnBrk="1" hangingPunct="1">
              <a:buFontTx/>
              <a:buNone/>
            </a:pPr>
            <a:r>
              <a:rPr lang="en-US" altLang="en-US"/>
              <a:t>2.54 cm/in			Temp. reading</a:t>
            </a:r>
          </a:p>
          <a:p>
            <a:pPr eaLnBrk="1" hangingPunct="1">
              <a:buFontTx/>
              <a:buNone/>
            </a:pPr>
            <a:r>
              <a:rPr lang="en-US" altLang="en-US"/>
              <a:t>12/dozen				volume or mass</a:t>
            </a:r>
          </a:p>
          <a:p>
            <a:pPr eaLnBrk="1" hangingPunct="1">
              <a:buFontTx/>
              <a:buNone/>
            </a:pPr>
            <a:r>
              <a:rPr lang="en-US" altLang="en-US"/>
              <a:t>any conversion 		etc.</a:t>
            </a:r>
          </a:p>
          <a:p>
            <a:pPr eaLnBrk="1" hangingPunct="1">
              <a:buFontTx/>
              <a:buNone/>
            </a:pPr>
            <a:r>
              <a:rPr lang="en-US" altLang="en-US"/>
              <a:t>factor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F0D114C-4CC0-4C08-8AD5-9320C0B27D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Significant Figures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D03B7F04-CDA3-462F-B8C0-EB9F40024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term </a:t>
            </a:r>
            <a:r>
              <a:rPr lang="en-US" altLang="en-US">
                <a:solidFill>
                  <a:srgbClr val="001996"/>
                </a:solidFill>
              </a:rPr>
              <a:t>significant figures</a:t>
            </a:r>
            <a:r>
              <a:rPr lang="en-US" altLang="en-US"/>
              <a:t> refers to digits </a:t>
            </a:r>
            <a:r>
              <a:rPr lang="en-US" altLang="en-US" i="1">
                <a:solidFill>
                  <a:srgbClr val="008000"/>
                </a:solidFill>
              </a:rPr>
              <a:t>that were measured</a:t>
            </a:r>
            <a:r>
              <a:rPr lang="en-US" altLang="en-US"/>
              <a:t>.</a:t>
            </a:r>
          </a:p>
          <a:p>
            <a:pPr eaLnBrk="1" hangingPunct="1"/>
            <a:r>
              <a:rPr lang="en-US" altLang="en-US"/>
              <a:t>When rounding calculated numbers, we pay attention to significant figures so we do not overstate the precision of our answers.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D4254F3E-AE03-4373-9084-7A053A2154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-762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Rules for Significant Figures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6AA3D03B-389F-4718-A606-19AA838BDD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748338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en-US" sz="2800" dirty="0">
                <a:solidFill>
                  <a:srgbClr val="008000"/>
                </a:solidFill>
              </a:rPr>
              <a:t>All nonzero digits are significant. (sig figs in </a:t>
            </a:r>
            <a:r>
              <a:rPr lang="en-US" altLang="en-US" sz="2800" b="1" dirty="0">
                <a:solidFill>
                  <a:srgbClr val="FF0000"/>
                </a:solidFill>
              </a:rPr>
              <a:t>red</a:t>
            </a:r>
            <a:r>
              <a:rPr lang="en-US" altLang="en-US" sz="2800" dirty="0">
                <a:solidFill>
                  <a:srgbClr val="008000"/>
                </a:solidFill>
              </a:rPr>
              <a:t>)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/>
              <a:t>	423.444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2"/>
            </a:pPr>
            <a:r>
              <a:rPr lang="en-US" altLang="en-US" sz="2800" dirty="0">
                <a:solidFill>
                  <a:srgbClr val="008000"/>
                </a:solidFill>
              </a:rPr>
              <a:t>Zeroes between two significant figures are themselves significant.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/>
              <a:t>	42,300045     42,340.0025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3"/>
            </a:pPr>
            <a:r>
              <a:rPr lang="en-US" altLang="en-US" sz="2800" dirty="0">
                <a:solidFill>
                  <a:srgbClr val="008000"/>
                </a:solidFill>
              </a:rPr>
              <a:t>Zeroes at the beginning of a number are never significant.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/>
              <a:t>	</a:t>
            </a:r>
            <a:r>
              <a:rPr lang="en-US" altLang="en-US" sz="2800" dirty="0">
                <a:solidFill>
                  <a:schemeClr val="tx1"/>
                </a:solidFill>
              </a:rPr>
              <a:t>000</a:t>
            </a:r>
            <a:r>
              <a:rPr lang="en-US" altLang="en-US" sz="2800" dirty="0"/>
              <a:t>42345.0  </a:t>
            </a:r>
            <a:r>
              <a:rPr lang="en-US" altLang="en-US" sz="2800" dirty="0">
                <a:solidFill>
                  <a:schemeClr val="tx1"/>
                </a:solidFill>
              </a:rPr>
              <a:t>0.000</a:t>
            </a:r>
            <a:r>
              <a:rPr lang="en-US" altLang="en-US" sz="2800" dirty="0"/>
              <a:t>48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4"/>
            </a:pPr>
            <a:r>
              <a:rPr lang="en-US" altLang="en-US" sz="2800" dirty="0">
                <a:solidFill>
                  <a:srgbClr val="008000"/>
                </a:solidFill>
              </a:rPr>
              <a:t>Zeroes at the end of a number are significant if a decimal point is written in the number.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800" dirty="0"/>
              <a:t>	423,</a:t>
            </a:r>
            <a:r>
              <a:rPr lang="en-US" altLang="en-US" sz="2800" dirty="0">
                <a:solidFill>
                  <a:schemeClr val="tx1"/>
                </a:solidFill>
              </a:rPr>
              <a:t>000 versus: </a:t>
            </a:r>
            <a:r>
              <a:rPr lang="en-US" altLang="en-US" sz="2800" dirty="0"/>
              <a:t>423,000.0 or:  423,000.000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08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20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20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208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208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120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8" name="Text Box 6">
            <a:extLst>
              <a:ext uri="{FF2B5EF4-FFF2-40B4-BE49-F238E27FC236}">
                <a16:creationId xmlns:a16="http://schemas.microsoft.com/office/drawing/2014/main" id="{FF598926-AAB2-49EA-AD02-89B852310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725" y="3849688"/>
            <a:ext cx="48672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   35.8750      </a:t>
            </a:r>
            <a:r>
              <a:rPr lang="en-US" altLang="en-US" sz="2400">
                <a:solidFill>
                  <a:srgbClr val="001996"/>
                </a:solidFill>
              </a:rPr>
              <a:t>(6 sig figs)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 ×40.006800  </a:t>
            </a:r>
            <a:r>
              <a:rPr lang="en-US" altLang="en-US" sz="2400">
                <a:solidFill>
                  <a:srgbClr val="001996"/>
                </a:solidFill>
              </a:rPr>
              <a:t>(8 sig figs)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1435.24395 = 1435.24  </a:t>
            </a:r>
            <a:r>
              <a:rPr lang="en-US" altLang="en-US" sz="2400">
                <a:solidFill>
                  <a:srgbClr val="001996"/>
                </a:solidFill>
              </a:rPr>
              <a:t>(6 sig figs)</a:t>
            </a:r>
            <a:endParaRPr lang="en-US" altLang="en-US" sz="2400">
              <a:solidFill>
                <a:schemeClr val="tx1"/>
              </a:solidFill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89523646-9E74-4DEC-AF6E-82ACC72D62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013" y="14288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Significant Figures</a:t>
            </a:r>
          </a:p>
        </p:txBody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CA67889C-3A5F-412F-A2CE-3B23F2D6C8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588" y="1157288"/>
            <a:ext cx="3429000" cy="21161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When addition or subtraction is performed, answers are rounded to the </a:t>
            </a:r>
            <a:r>
              <a:rPr lang="en-US" altLang="en-US" sz="2400" b="1" i="1"/>
              <a:t>least significant </a:t>
            </a:r>
            <a:r>
              <a:rPr lang="en-US" altLang="en-US" sz="2400">
                <a:solidFill>
                  <a:srgbClr val="001996"/>
                </a:solidFill>
              </a:rPr>
              <a:t>decimal place</a:t>
            </a:r>
            <a:r>
              <a:rPr lang="en-US" altLang="en-US" sz="2400" i="1"/>
              <a:t>.</a:t>
            </a:r>
            <a:endParaRPr lang="en-US" altLang="en-US" sz="1800"/>
          </a:p>
        </p:txBody>
      </p:sp>
      <p:sp>
        <p:nvSpPr>
          <p:cNvPr id="84996" name="Text Box 4">
            <a:extLst>
              <a:ext uri="{FF2B5EF4-FFF2-40B4-BE49-F238E27FC236}">
                <a16:creationId xmlns:a16="http://schemas.microsoft.com/office/drawing/2014/main" id="{D0AAD9BE-1D86-4DF7-B023-0D47A6E57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562100"/>
            <a:ext cx="4421188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  24.245     (least significant)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+22.33488   (more significant)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  46.57988 = 46.580 (least sig)</a:t>
            </a:r>
          </a:p>
        </p:txBody>
      </p:sp>
      <p:sp>
        <p:nvSpPr>
          <p:cNvPr id="84997" name="Line 5">
            <a:extLst>
              <a:ext uri="{FF2B5EF4-FFF2-40B4-BE49-F238E27FC236}">
                <a16:creationId xmlns:a16="http://schemas.microsoft.com/office/drawing/2014/main" id="{85B2C324-6610-49D8-BA48-94CE168907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654550"/>
            <a:ext cx="3124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84999" name="Line 7">
            <a:extLst>
              <a:ext uri="{FF2B5EF4-FFF2-40B4-BE49-F238E27FC236}">
                <a16:creationId xmlns:a16="http://schemas.microsoft.com/office/drawing/2014/main" id="{24D19E30-9051-4F9A-9B5E-AF3DDA3FE4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2292350"/>
            <a:ext cx="3124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66800D-3C18-4B6F-8BAE-5EE9849CA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988" y="3441700"/>
            <a:ext cx="3271837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00000"/>
                </a:solidFill>
              </a:rPr>
              <a:t>When multiplication or division is performed, answers are rounded to the </a:t>
            </a:r>
            <a:r>
              <a:rPr lang="en-US" altLang="en-US" sz="2400">
                <a:solidFill>
                  <a:srgbClr val="001996"/>
                </a:solidFill>
              </a:rPr>
              <a:t>number of digits that corresponds to the </a:t>
            </a:r>
            <a:r>
              <a:rPr lang="en-US" altLang="en-US" sz="2400" b="1" i="1">
                <a:solidFill>
                  <a:srgbClr val="001996"/>
                </a:solidFill>
              </a:rPr>
              <a:t>least</a:t>
            </a:r>
            <a:r>
              <a:rPr lang="en-US" altLang="en-US" sz="2400">
                <a:solidFill>
                  <a:srgbClr val="001996"/>
                </a:solidFill>
              </a:rPr>
              <a:t> number of significant figures in any of the numbers used in the calculation.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1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49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49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49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49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49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49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59" grpId="0" build="p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A147C3C7-8D6E-4DFB-94AD-E2B2B9F5C0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Accuracy versus Precision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940E93DA-68CF-4EEC-99FB-8D6B0F759CD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47261" y="1371600"/>
            <a:ext cx="37338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i="1" dirty="0"/>
              <a:t> </a:t>
            </a:r>
            <a:r>
              <a:rPr lang="en-US" altLang="en-US" sz="2400" dirty="0">
                <a:solidFill>
                  <a:srgbClr val="001996"/>
                </a:solidFill>
              </a:rPr>
              <a:t>Accuracy </a:t>
            </a:r>
            <a:r>
              <a:rPr lang="en-US" altLang="en-US" sz="2400" dirty="0"/>
              <a:t>How close a</a:t>
            </a:r>
            <a:r>
              <a:rPr lang="en-US" altLang="en-US" sz="2400" dirty="0">
                <a:solidFill>
                  <a:srgbClr val="001996"/>
                </a:solidFill>
              </a:rPr>
              <a:t> </a:t>
            </a:r>
            <a:r>
              <a:rPr lang="en-US" altLang="en-US" sz="2400" dirty="0"/>
              <a:t>measurement is to the true value. (How right you are)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i="1" dirty="0"/>
              <a:t> </a:t>
            </a:r>
            <a:r>
              <a:rPr lang="en-US" altLang="en-US" sz="2400" dirty="0">
                <a:solidFill>
                  <a:srgbClr val="001996"/>
                </a:solidFill>
              </a:rPr>
              <a:t>Precision</a:t>
            </a:r>
            <a:r>
              <a:rPr lang="en-US" altLang="en-US" sz="2400" dirty="0"/>
              <a:t> How close measurements are  to each other. (Reproducibility). Precise but incorrect data are often the result of systematic errors.</a:t>
            </a:r>
          </a:p>
        </p:txBody>
      </p:sp>
      <p:pic>
        <p:nvPicPr>
          <p:cNvPr id="45060" name="Picture 7" descr="01_24">
            <a:extLst>
              <a:ext uri="{FF2B5EF4-FFF2-40B4-BE49-F238E27FC236}">
                <a16:creationId xmlns:a16="http://schemas.microsoft.com/office/drawing/2014/main" id="{A0752A38-A2D5-4F9E-AFFF-CBE52948DD4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36" r="22736" b="3360"/>
          <a:stretch>
            <a:fillRect/>
          </a:stretch>
        </p:blipFill>
        <p:spPr>
          <a:xfrm>
            <a:off x="4381500" y="838200"/>
            <a:ext cx="1704975" cy="6019800"/>
          </a:xfr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01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77C1CAA-B45E-4B4F-966E-34FCB68FF9E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8479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 sz="9600"/>
              <a:t>1.6 Dimensional Analysis</a:t>
            </a:r>
            <a:endParaRPr lang="en-US" altLang="en-US"/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B26581CC-851E-40BB-A807-5650C081431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01688" y="1047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Dimensional analysis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37EC457-3178-4F9E-9C80-F125AD1872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23863" y="1409700"/>
            <a:ext cx="8335962" cy="1104900"/>
          </a:xfrm>
        </p:spPr>
        <p:txBody>
          <a:bodyPr/>
          <a:lstStyle/>
          <a:p>
            <a:pPr algn="l" eaLnBrk="1" hangingPunct="1"/>
            <a:r>
              <a:rPr lang="en-US" altLang="en-US"/>
              <a:t>What do virtually all problems in chemistry have in common?</a:t>
            </a:r>
          </a:p>
        </p:txBody>
      </p:sp>
      <p:sp>
        <p:nvSpPr>
          <p:cNvPr id="147460" name="Text Box 4">
            <a:extLst>
              <a:ext uri="{FF2B5EF4-FFF2-40B4-BE49-F238E27FC236}">
                <a16:creationId xmlns:a16="http://schemas.microsoft.com/office/drawing/2014/main" id="{CCEF79D8-F587-425E-8A19-3AF01F0CFA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7425" y="2868613"/>
            <a:ext cx="7772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3600" i="1">
                <a:solidFill>
                  <a:srgbClr val="001996"/>
                </a:solidFill>
              </a:rPr>
              <a:t>Answer: </a:t>
            </a:r>
            <a:r>
              <a:rPr lang="en-US" altLang="en-US" sz="3600" b="1">
                <a:solidFill>
                  <a:srgbClr val="001996"/>
                </a:solidFill>
              </a:rPr>
              <a:t>Dimensional analysis</a:t>
            </a:r>
          </a:p>
        </p:txBody>
      </p:sp>
      <p:sp>
        <p:nvSpPr>
          <p:cNvPr id="147463" name="Text Box 7">
            <a:extLst>
              <a:ext uri="{FF2B5EF4-FFF2-40B4-BE49-F238E27FC236}">
                <a16:creationId xmlns:a16="http://schemas.microsoft.com/office/drawing/2014/main" id="{D0F0E819-E1A5-47E4-B6A9-E01B0021B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3" y="4381500"/>
            <a:ext cx="83359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Convert centimeters to feet:  1 cm = ? feet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1"/>
                </a:solidFill>
              </a:rPr>
              <a:t>Know:  2.54 cm = 1 in, 12 in = 1 foot.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9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 build="p"/>
      <p:bldP spid="147460" grpId="0"/>
      <p:bldP spid="14746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0C4106F3-620E-452D-A5FE-05F2433053A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01688" y="104775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Dimensional analysis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D1549B20-11E9-4642-AE5F-2D31ADAB9B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9425" y="1247775"/>
          <a:ext cx="2767013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5" name="Equation" r:id="rId4" imgW="749300" imgH="228600" progId="Equation.KSEE3">
                  <p:embed/>
                </p:oleObj>
              </mc:Choice>
              <mc:Fallback>
                <p:oleObj name="Equation" r:id="rId4" imgW="749300" imgH="228600" progId="Equation.KSEE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425" y="1247775"/>
                        <a:ext cx="2767013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A1116BE-8624-4D57-9F8D-457FB3FD30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538" y="1847850"/>
          <a:ext cx="3892550" cy="154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6" name="Equation" r:id="rId6" imgW="1054100" imgH="419100" progId="Equation.KSEE3">
                  <p:embed/>
                </p:oleObj>
              </mc:Choice>
              <mc:Fallback>
                <p:oleObj name="Equation" r:id="rId6" imgW="1054100" imgH="419100" progId="Equation.KSEE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1847850"/>
                        <a:ext cx="3892550" cy="154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B7E8AB7-788A-4CD2-B506-A63CAA38B71F}"/>
              </a:ext>
            </a:extLst>
          </p:cNvPr>
          <p:cNvCxnSpPr/>
          <p:nvPr/>
        </p:nvCxnSpPr>
        <p:spPr bwMode="auto">
          <a:xfrm flipH="1">
            <a:off x="3436938" y="2921000"/>
            <a:ext cx="560387" cy="47625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0F5EF4-915E-4620-BE49-D5A0D6FA6A08}"/>
              </a:ext>
            </a:extLst>
          </p:cNvPr>
          <p:cNvCxnSpPr/>
          <p:nvPr/>
        </p:nvCxnSpPr>
        <p:spPr bwMode="auto">
          <a:xfrm flipH="1">
            <a:off x="1044575" y="2406650"/>
            <a:ext cx="560388" cy="47625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6B1B4605-99CF-460D-981A-3D132D88F6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00538" y="2200275"/>
          <a:ext cx="225107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7" name="Equation" r:id="rId8" imgW="609336" imgH="203112" progId="Equation.KSEE3">
                  <p:embed/>
                </p:oleObj>
              </mc:Choice>
              <mc:Fallback>
                <p:oleObj name="Equation" r:id="rId8" imgW="609336" imgH="203112" progId="Equation.KSEE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0538" y="2200275"/>
                        <a:ext cx="225107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3619468E-0086-4A97-A6DE-5DE51D4804E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9550" y="1801813"/>
          <a:ext cx="1782763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8" name="Equation" r:id="rId10" imgW="482391" imgH="418918" progId="Equation.KSEE3">
                  <p:embed/>
                </p:oleObj>
              </mc:Choice>
              <mc:Fallback>
                <p:oleObj name="Equation" r:id="rId10" imgW="482391" imgH="418918" progId="Equation.KSEE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9550" y="1801813"/>
                        <a:ext cx="1782763" cy="154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BCE5582-CC14-4080-AEF6-DC072D50CEB5}"/>
              </a:ext>
            </a:extLst>
          </p:cNvPr>
          <p:cNvCxnSpPr/>
          <p:nvPr/>
        </p:nvCxnSpPr>
        <p:spPr bwMode="auto">
          <a:xfrm flipH="1">
            <a:off x="5994400" y="2441575"/>
            <a:ext cx="560388" cy="474663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DC0EA81-4117-4DDE-A24D-448525274AA4}"/>
              </a:ext>
            </a:extLst>
          </p:cNvPr>
          <p:cNvCxnSpPr/>
          <p:nvPr/>
        </p:nvCxnSpPr>
        <p:spPr bwMode="auto">
          <a:xfrm flipH="1">
            <a:off x="7702550" y="2871788"/>
            <a:ext cx="560388" cy="47625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1C829DAD-21CB-4D4E-9DAB-D8EE3D3A7C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52925" y="3521075"/>
          <a:ext cx="2579688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19" name="Equation" r:id="rId12" imgW="698500" imgH="228600" progId="Equation.KSEE3">
                  <p:embed/>
                </p:oleObj>
              </mc:Choice>
              <mc:Fallback>
                <p:oleObj name="Equation" r:id="rId12" imgW="698500" imgH="228600" progId="Equation.KSEE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2925" y="3521075"/>
                        <a:ext cx="2579688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827CFF4F-743D-4351-A09D-418CF57C4C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6325" y="4800600"/>
          <a:ext cx="4454525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20" name="Equation" r:id="rId14" imgW="1206500" imgH="228600" progId="Equation.KSEE3">
                  <p:embed/>
                </p:oleObj>
              </mc:Choice>
              <mc:Fallback>
                <p:oleObj name="Equation" r:id="rId14" imgW="1206500" imgH="228600" progId="Equation.KSEE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4800600"/>
                        <a:ext cx="4454525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D4E0AF3F-38EA-4C75-ABD8-5056E2C925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Dimensional Analysis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8D687D3B-A687-46E1-B58C-F5282642C8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722438"/>
            <a:ext cx="7772400" cy="46386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008000"/>
                </a:solidFill>
              </a:rPr>
              <a:t>What do I need on top?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008000"/>
                </a:solidFill>
              </a:rPr>
              <a:t>What do I need on the bottom?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008000"/>
                </a:solidFill>
              </a:rPr>
              <a:t>What do I know? Conversion factors?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008000"/>
                </a:solidFill>
              </a:rPr>
              <a:t>How do I get there?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001996"/>
                </a:solidFill>
              </a:rPr>
              <a:t>Note:  You will always be given the conversion factors you need, you don’t have to memorize them.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>
                <a:solidFill>
                  <a:srgbClr val="001996"/>
                </a:solidFill>
              </a:rPr>
              <a:t>Note: You should always set everything up as a </a:t>
            </a:r>
            <a:r>
              <a:rPr lang="en-US" altLang="en-US" i="1">
                <a:solidFill>
                  <a:srgbClr val="001996"/>
                </a:solidFill>
              </a:rPr>
              <a:t>multiplication</a:t>
            </a:r>
            <a:r>
              <a:rPr lang="en-US" altLang="en-US">
                <a:solidFill>
                  <a:srgbClr val="001996"/>
                </a:solidFill>
              </a:rPr>
              <a:t> in </a:t>
            </a:r>
            <a:r>
              <a:rPr lang="en-US" altLang="en-US" i="1">
                <a:solidFill>
                  <a:srgbClr val="001996"/>
                </a:solidFill>
              </a:rPr>
              <a:t>fraction</a:t>
            </a:r>
            <a:r>
              <a:rPr lang="en-US" altLang="en-US">
                <a:solidFill>
                  <a:srgbClr val="001996"/>
                </a:solidFill>
              </a:rPr>
              <a:t> form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1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1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2840569A-6CD9-493B-80FC-4E5CAD9898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940024"/>
              </p:ext>
            </p:extLst>
          </p:nvPr>
        </p:nvGraphicFramePr>
        <p:xfrm>
          <a:off x="160338" y="4390163"/>
          <a:ext cx="1895475" cy="77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6" name="Equation" r:id="rId4" imgW="965160" imgH="393480" progId="Equation.KSEE3">
                  <p:embed/>
                </p:oleObj>
              </mc:Choice>
              <mc:Fallback>
                <p:oleObj name="Equation" r:id="rId4" imgW="965160" imgH="393480" progId="Equation.KSEE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8" y="4390163"/>
                        <a:ext cx="1895475" cy="77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299" name="Rectangle 2">
            <a:extLst>
              <a:ext uri="{FF2B5EF4-FFF2-40B4-BE49-F238E27FC236}">
                <a16:creationId xmlns:a16="http://schemas.microsoft.com/office/drawing/2014/main" id="{D3786B43-AEE1-451E-8965-C1CB8448D1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Dimensional analysis, examples</a:t>
            </a:r>
          </a:p>
        </p:txBody>
      </p:sp>
      <p:sp>
        <p:nvSpPr>
          <p:cNvPr id="93188" name="Text Box 4">
            <a:extLst>
              <a:ext uri="{FF2B5EF4-FFF2-40B4-BE49-F238E27FC236}">
                <a16:creationId xmlns:a16="http://schemas.microsoft.com/office/drawing/2014/main" id="{62C00132-C35B-4ABF-884A-1757E10D1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13" y="1828800"/>
            <a:ext cx="8675687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1996"/>
                </a:solidFill>
              </a:rPr>
              <a:t>The speed of light is 2.998×10</a:t>
            </a:r>
            <a:r>
              <a:rPr lang="en-US" altLang="en-US" sz="2400" baseline="30000" dirty="0">
                <a:solidFill>
                  <a:srgbClr val="001996"/>
                </a:solidFill>
              </a:rPr>
              <a:t>10 </a:t>
            </a:r>
            <a:r>
              <a:rPr lang="en-US" altLang="en-US" sz="2400" dirty="0">
                <a:solidFill>
                  <a:srgbClr val="001996"/>
                </a:solidFill>
              </a:rPr>
              <a:t>cm/s.  What is it in km/</a:t>
            </a:r>
            <a:r>
              <a:rPr lang="en-US" altLang="en-US" sz="2400" dirty="0" err="1">
                <a:solidFill>
                  <a:srgbClr val="001996"/>
                </a:solidFill>
              </a:rPr>
              <a:t>hr</a:t>
            </a:r>
            <a:r>
              <a:rPr lang="en-US" altLang="en-US" sz="2400" dirty="0">
                <a:solidFill>
                  <a:srgbClr val="001996"/>
                </a:solidFill>
              </a:rPr>
              <a:t>?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</a:rPr>
              <a:t>Know:  1 km =1000m, 1m=100cm, 60 min =1 </a:t>
            </a:r>
            <a:r>
              <a:rPr lang="en-US" altLang="en-US" sz="2400" dirty="0" err="1">
                <a:solidFill>
                  <a:srgbClr val="008000"/>
                </a:solidFill>
              </a:rPr>
              <a:t>hr</a:t>
            </a:r>
            <a:r>
              <a:rPr lang="en-US" altLang="en-US" sz="2400" dirty="0">
                <a:solidFill>
                  <a:srgbClr val="008000"/>
                </a:solidFill>
              </a:rPr>
              <a:t>, 60 sec =1 min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</a:rPr>
              <a:t>What do I need on top?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i="1" dirty="0"/>
              <a:t>kilometers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</a:rPr>
              <a:t>What do I need on the bottom?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i="1" dirty="0">
                <a:solidFill>
                  <a:srgbClr val="001996"/>
                </a:solidFill>
              </a:rPr>
              <a:t>hours</a:t>
            </a:r>
            <a:endParaRPr lang="en-US" altLang="en-US" sz="2400" i="1" dirty="0"/>
          </a:p>
        </p:txBody>
      </p:sp>
      <p:sp>
        <p:nvSpPr>
          <p:cNvPr id="93189" name="Line 6">
            <a:extLst>
              <a:ext uri="{FF2B5EF4-FFF2-40B4-BE49-F238E27FC236}">
                <a16:creationId xmlns:a16="http://schemas.microsoft.com/office/drawing/2014/main" id="{0C7FE262-3543-4342-91CB-9E010F4B1F0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1913" y="4945063"/>
            <a:ext cx="355600" cy="252412"/>
          </a:xfrm>
          <a:prstGeom prst="line">
            <a:avLst/>
          </a:prstGeom>
          <a:noFill/>
          <a:ln w="28575">
            <a:solidFill>
              <a:srgbClr val="C82E3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3190" name="Line 7">
            <a:extLst>
              <a:ext uri="{FF2B5EF4-FFF2-40B4-BE49-F238E27FC236}">
                <a16:creationId xmlns:a16="http://schemas.microsoft.com/office/drawing/2014/main" id="{33B85935-FE89-4342-894D-8AB4D87F284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22425" y="4471988"/>
            <a:ext cx="357188" cy="252412"/>
          </a:xfrm>
          <a:prstGeom prst="line">
            <a:avLst/>
          </a:prstGeom>
          <a:noFill/>
          <a:ln w="28575">
            <a:solidFill>
              <a:srgbClr val="C82E3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3191" name="Line 10">
            <a:extLst>
              <a:ext uri="{FF2B5EF4-FFF2-40B4-BE49-F238E27FC236}">
                <a16:creationId xmlns:a16="http://schemas.microsoft.com/office/drawing/2014/main" id="{33B1A8F0-6092-4CD0-8189-790337EF1C9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02063" y="4924425"/>
            <a:ext cx="355600" cy="252413"/>
          </a:xfrm>
          <a:prstGeom prst="line">
            <a:avLst/>
          </a:prstGeom>
          <a:noFill/>
          <a:ln w="28575">
            <a:solidFill>
              <a:srgbClr val="FF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3192" name="Line 11">
            <a:extLst>
              <a:ext uri="{FF2B5EF4-FFF2-40B4-BE49-F238E27FC236}">
                <a16:creationId xmlns:a16="http://schemas.microsoft.com/office/drawing/2014/main" id="{E4D3DF10-8AD9-4408-A21D-CB77918481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24113" y="4471988"/>
            <a:ext cx="355600" cy="252412"/>
          </a:xfrm>
          <a:prstGeom prst="line">
            <a:avLst/>
          </a:prstGeom>
          <a:noFill/>
          <a:ln w="28575">
            <a:solidFill>
              <a:srgbClr val="FF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3193" name="Line 12">
            <a:extLst>
              <a:ext uri="{FF2B5EF4-FFF2-40B4-BE49-F238E27FC236}">
                <a16:creationId xmlns:a16="http://schemas.microsoft.com/office/drawing/2014/main" id="{DBF77F23-96F3-4B24-BFEA-78D77162C2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85925" y="4989513"/>
            <a:ext cx="179388" cy="252412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3194" name="Line 13">
            <a:extLst>
              <a:ext uri="{FF2B5EF4-FFF2-40B4-BE49-F238E27FC236}">
                <a16:creationId xmlns:a16="http://schemas.microsoft.com/office/drawing/2014/main" id="{4BA64B05-AD71-46D5-BC88-99B80553DD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99013" y="4548188"/>
            <a:ext cx="381000" cy="188912"/>
          </a:xfrm>
          <a:prstGeom prst="line">
            <a:avLst/>
          </a:prstGeom>
          <a:noFill/>
          <a:ln w="28575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3195" name="Line 14">
            <a:extLst>
              <a:ext uri="{FF2B5EF4-FFF2-40B4-BE49-F238E27FC236}">
                <a16:creationId xmlns:a16="http://schemas.microsoft.com/office/drawing/2014/main" id="{B0E21FA6-8622-4E61-9798-DE06793BBD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49913" y="4471988"/>
            <a:ext cx="533400" cy="252412"/>
          </a:xfrm>
          <a:prstGeom prst="line">
            <a:avLst/>
          </a:prstGeom>
          <a:noFill/>
          <a:ln w="28575">
            <a:solidFill>
              <a:srgbClr val="0019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3196" name="Line 15">
            <a:extLst>
              <a:ext uri="{FF2B5EF4-FFF2-40B4-BE49-F238E27FC236}">
                <a16:creationId xmlns:a16="http://schemas.microsoft.com/office/drawing/2014/main" id="{CF04DEB4-ED7C-4B4A-9241-CD654C8B642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59313" y="4924425"/>
            <a:ext cx="533400" cy="252413"/>
          </a:xfrm>
          <a:prstGeom prst="line">
            <a:avLst/>
          </a:prstGeom>
          <a:noFill/>
          <a:ln w="28575">
            <a:solidFill>
              <a:srgbClr val="00199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EFE4BFD2-CF42-444D-8A94-95AEBE7DBA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702103"/>
              </p:ext>
            </p:extLst>
          </p:nvPr>
        </p:nvGraphicFramePr>
        <p:xfrm>
          <a:off x="6447249" y="4548188"/>
          <a:ext cx="256857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7" name="Equation" r:id="rId6" imgW="1307880" imgH="203040" progId="Equation.KSEE3">
                  <p:embed/>
                </p:oleObj>
              </mc:Choice>
              <mc:Fallback>
                <p:oleObj name="Equation" r:id="rId6" imgW="1307880" imgH="203040" progId="Equation.KSEE3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2840569A-6CD9-493B-80FC-4E5CAD9898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7249" y="4548188"/>
                        <a:ext cx="256857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93D96B8E-7C96-47B2-B3A3-0FCF1A7984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2275103"/>
              </p:ext>
            </p:extLst>
          </p:nvPr>
        </p:nvGraphicFramePr>
        <p:xfrm>
          <a:off x="1979613" y="4390163"/>
          <a:ext cx="11969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8" name="Equation" r:id="rId8" imgW="609480" imgH="431640" progId="Equation.KSEE3">
                  <p:embed/>
                </p:oleObj>
              </mc:Choice>
              <mc:Fallback>
                <p:oleObj name="Equation" r:id="rId8" imgW="609480" imgH="431640" progId="Equation.KSEE3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EFE4BFD2-CF42-444D-8A94-95AEBE7DBA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390163"/>
                        <a:ext cx="11969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AAEDAA95-A290-473A-88D2-1099C7CE09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303965"/>
              </p:ext>
            </p:extLst>
          </p:nvPr>
        </p:nvGraphicFramePr>
        <p:xfrm>
          <a:off x="3108256" y="4390162"/>
          <a:ext cx="122078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69" name="Equation" r:id="rId10" imgW="622080" imgH="431640" progId="Equation.KSEE3">
                  <p:embed/>
                </p:oleObj>
              </mc:Choice>
              <mc:Fallback>
                <p:oleObj name="Equation" r:id="rId10" imgW="622080" imgH="431640" progId="Equation.KSEE3">
                  <p:embed/>
                  <p:pic>
                    <p:nvPicPr>
                      <p:cNvPr id="14" name="Object 13">
                        <a:extLst>
                          <a:ext uri="{FF2B5EF4-FFF2-40B4-BE49-F238E27FC236}">
                            <a16:creationId xmlns:a16="http://schemas.microsoft.com/office/drawing/2014/main" id="{93D96B8E-7C96-47B2-B3A3-0FCF1A7984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8256" y="4390162"/>
                        <a:ext cx="1220788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9AFA4F3B-32AF-41D3-9B54-2634C993A8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997167"/>
              </p:ext>
            </p:extLst>
          </p:nvPr>
        </p:nvGraphicFramePr>
        <p:xfrm>
          <a:off x="4282039" y="4390161"/>
          <a:ext cx="1022350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0" name="Equation" r:id="rId12" imgW="520560" imgH="431640" progId="Equation.KSEE3">
                  <p:embed/>
                </p:oleObj>
              </mc:Choice>
              <mc:Fallback>
                <p:oleObj name="Equation" r:id="rId12" imgW="520560" imgH="431640" progId="Equation.KSEE3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EFE4BFD2-CF42-444D-8A94-95AEBE7DBA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2039" y="4390161"/>
                        <a:ext cx="1022350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8A3E5E2B-8BEF-4703-A659-FAEF4D1A69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861701"/>
              </p:ext>
            </p:extLst>
          </p:nvPr>
        </p:nvGraphicFramePr>
        <p:xfrm>
          <a:off x="5230880" y="4390160"/>
          <a:ext cx="12223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71" name="Equation" r:id="rId14" imgW="622080" imgH="431640" progId="Equation.KSEE3">
                  <p:embed/>
                </p:oleObj>
              </mc:Choice>
              <mc:Fallback>
                <p:oleObj name="Equation" r:id="rId14" imgW="622080" imgH="431640" progId="Equation.KSEE3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EFE4BFD2-CF42-444D-8A94-95AEBE7DBA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0880" y="4390160"/>
                        <a:ext cx="122237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31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31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31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31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3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3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93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3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250A1A24-9868-49CD-99DC-44F0A751B4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38035"/>
              </p:ext>
            </p:extLst>
          </p:nvPr>
        </p:nvGraphicFramePr>
        <p:xfrm>
          <a:off x="4743725" y="4596126"/>
          <a:ext cx="116046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7" name="Equation" r:id="rId4" imgW="520560" imgH="431640" progId="Equation.KSEE3">
                  <p:embed/>
                </p:oleObj>
              </mc:Choice>
              <mc:Fallback>
                <p:oleObj name="Equation" r:id="rId4" imgW="520560" imgH="431640" progId="Equation.KSEE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6E59E67-A35F-4CC4-8BBB-AAE98DA08F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3725" y="4596126"/>
                        <a:ext cx="116046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514C2C11-CEBE-4AEB-A2B2-5CFCD00C6E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5447761"/>
              </p:ext>
            </p:extLst>
          </p:nvPr>
        </p:nvGraphicFramePr>
        <p:xfrm>
          <a:off x="3659135" y="4511090"/>
          <a:ext cx="1246188" cy="1049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8" name="Equation" r:id="rId6" imgW="558720" imgH="469800" progId="Equation.KSEE3">
                  <p:embed/>
                </p:oleObj>
              </mc:Choice>
              <mc:Fallback>
                <p:oleObj name="Equation" r:id="rId6" imgW="558720" imgH="469800" progId="Equation.KSEE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6E59E67-A35F-4CC4-8BBB-AAE98DA08F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9135" y="4511090"/>
                        <a:ext cx="1246188" cy="1049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6E59E67-A35F-4CC4-8BBB-AAE98DA08F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811942"/>
              </p:ext>
            </p:extLst>
          </p:nvPr>
        </p:nvGraphicFramePr>
        <p:xfrm>
          <a:off x="1580542" y="4748075"/>
          <a:ext cx="20955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89" name="Equation" r:id="rId8" imgW="939600" imgH="228600" progId="Equation.KSEE3">
                  <p:embed/>
                </p:oleObj>
              </mc:Choice>
              <mc:Fallback>
                <p:oleObj name="Equation" r:id="rId8" imgW="939600" imgH="228600" progId="Equation.KSEE3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EFE4BFD2-CF42-444D-8A94-95AEBE7DBA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0542" y="4748075"/>
                        <a:ext cx="20955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6" name="Rectangle 4">
            <a:extLst>
              <a:ext uri="{FF2B5EF4-FFF2-40B4-BE49-F238E27FC236}">
                <a16:creationId xmlns:a16="http://schemas.microsoft.com/office/drawing/2014/main" id="{ACFAEF68-E853-4766-9DF2-44F2165F5F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53400" cy="1143000"/>
          </a:xfrm>
        </p:spPr>
        <p:txBody>
          <a:bodyPr/>
          <a:lstStyle/>
          <a:p>
            <a:pPr algn="l" eaLnBrk="1" hangingPunct="1"/>
            <a:r>
              <a:rPr lang="en-US" altLang="en-US">
                <a:latin typeface="Cooper Std Black"/>
              </a:rPr>
              <a:t>Dimensional</a:t>
            </a:r>
            <a:r>
              <a:rPr lang="en-US" altLang="en-US"/>
              <a:t> analysis, examples</a:t>
            </a:r>
          </a:p>
        </p:txBody>
      </p:sp>
      <p:sp>
        <p:nvSpPr>
          <p:cNvPr id="57347" name="Text Box 5">
            <a:extLst>
              <a:ext uri="{FF2B5EF4-FFF2-40B4-BE49-F238E27FC236}">
                <a16:creationId xmlns:a16="http://schemas.microsoft.com/office/drawing/2014/main" id="{AB84BF2A-04F8-427A-9C2F-4F602342CE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1512888"/>
            <a:ext cx="8294687" cy="283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1996"/>
                </a:solidFill>
              </a:rPr>
              <a:t>The Vehicle Assembly Building (VAB) at the Kennedy Space Center has a volume of: 3,666,500m</a:t>
            </a:r>
            <a:r>
              <a:rPr lang="en-US" altLang="en-US" sz="2400" baseline="30000" dirty="0">
                <a:solidFill>
                  <a:srgbClr val="001996"/>
                </a:solidFill>
              </a:rPr>
              <a:t>3</a:t>
            </a:r>
            <a:r>
              <a:rPr lang="en-US" altLang="en-US" sz="2400" dirty="0">
                <a:solidFill>
                  <a:srgbClr val="001996"/>
                </a:solidFill>
              </a:rPr>
              <a:t>.  What is it in liters?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</a:rPr>
              <a:t>Know:  1 L = 1 dm</a:t>
            </a:r>
            <a:r>
              <a:rPr lang="en-US" altLang="en-US" sz="2400" baseline="30000" dirty="0">
                <a:solidFill>
                  <a:srgbClr val="008000"/>
                </a:solidFill>
              </a:rPr>
              <a:t>3</a:t>
            </a:r>
            <a:r>
              <a:rPr lang="en-US" altLang="en-US" sz="2400" dirty="0">
                <a:solidFill>
                  <a:srgbClr val="008000"/>
                </a:solidFill>
              </a:rPr>
              <a:t>, 1dm = 0.1 m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</a:rPr>
              <a:t>What do I need on top?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i="1" dirty="0"/>
              <a:t>Liters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</a:rPr>
              <a:t>What do I need on the bottom?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i="1" dirty="0">
                <a:solidFill>
                  <a:srgbClr val="001996"/>
                </a:solidFill>
              </a:rPr>
              <a:t>nothing</a:t>
            </a:r>
            <a:endParaRPr lang="en-US" altLang="en-US" sz="2400" i="1" dirty="0"/>
          </a:p>
        </p:txBody>
      </p:sp>
      <p:sp>
        <p:nvSpPr>
          <p:cNvPr id="95237" name="Line 8">
            <a:extLst>
              <a:ext uri="{FF2B5EF4-FFF2-40B4-BE49-F238E27FC236}">
                <a16:creationId xmlns:a16="http://schemas.microsoft.com/office/drawing/2014/main" id="{919622D7-B157-4DAF-A7B1-B62A500797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61353" y="4800601"/>
            <a:ext cx="227273" cy="261730"/>
          </a:xfrm>
          <a:prstGeom prst="line">
            <a:avLst/>
          </a:prstGeom>
          <a:noFill/>
          <a:ln w="28575">
            <a:solidFill>
              <a:srgbClr val="C82E3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5238" name="Line 9">
            <a:extLst>
              <a:ext uri="{FF2B5EF4-FFF2-40B4-BE49-F238E27FC236}">
                <a16:creationId xmlns:a16="http://schemas.microsoft.com/office/drawing/2014/main" id="{0DC62885-645E-47AF-9D51-2AF9D6EDF5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3824" y="5224048"/>
            <a:ext cx="228600" cy="228600"/>
          </a:xfrm>
          <a:prstGeom prst="line">
            <a:avLst/>
          </a:prstGeom>
          <a:noFill/>
          <a:ln w="28575">
            <a:solidFill>
              <a:srgbClr val="C82E3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5239" name="Line 10">
            <a:extLst>
              <a:ext uri="{FF2B5EF4-FFF2-40B4-BE49-F238E27FC236}">
                <a16:creationId xmlns:a16="http://schemas.microsoft.com/office/drawing/2014/main" id="{6AC33FD5-6AE8-4CD8-A337-072F9AD396D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8416" y="4800600"/>
            <a:ext cx="304800" cy="152400"/>
          </a:xfrm>
          <a:prstGeom prst="line">
            <a:avLst/>
          </a:prstGeom>
          <a:noFill/>
          <a:ln w="28575">
            <a:solidFill>
              <a:srgbClr val="FF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5240" name="Line 11">
            <a:extLst>
              <a:ext uri="{FF2B5EF4-FFF2-40B4-BE49-F238E27FC236}">
                <a16:creationId xmlns:a16="http://schemas.microsoft.com/office/drawing/2014/main" id="{20AAE665-FAAF-4F66-9C15-F9C6E2759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7698" y="5283684"/>
            <a:ext cx="304800" cy="152400"/>
          </a:xfrm>
          <a:prstGeom prst="line">
            <a:avLst/>
          </a:prstGeom>
          <a:noFill/>
          <a:ln w="28575">
            <a:solidFill>
              <a:srgbClr val="FF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A720C38A-4554-4DA9-99CF-5F6BD27119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4913263"/>
              </p:ext>
            </p:extLst>
          </p:nvPr>
        </p:nvGraphicFramePr>
        <p:xfrm>
          <a:off x="5904187" y="4805158"/>
          <a:ext cx="22098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90" name="Equation" r:id="rId10" imgW="990360" imgH="203040" progId="Equation.KSEE3">
                  <p:embed/>
                </p:oleObj>
              </mc:Choice>
              <mc:Fallback>
                <p:oleObj name="Equation" r:id="rId10" imgW="990360" imgH="203040" progId="Equation.KSEE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6E59E67-A35F-4CC4-8BBB-AAE98DA08F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4187" y="4805158"/>
                        <a:ext cx="22098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5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CC8576E5-92F7-4DAB-B23D-D6CFC3F8CA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738083"/>
              </p:ext>
            </p:extLst>
          </p:nvPr>
        </p:nvGraphicFramePr>
        <p:xfrm>
          <a:off x="753098" y="4892814"/>
          <a:ext cx="1684337" cy="77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8" name="Equation" r:id="rId4" imgW="850680" imgH="393480" progId="Equation.KSEE3">
                  <p:embed/>
                </p:oleObj>
              </mc:Choice>
              <mc:Fallback>
                <p:oleObj name="Equation" r:id="rId4" imgW="850680" imgH="393480" progId="Equation.KSEE3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328F4896-8A8D-48C7-B4B4-B0F5DAC37D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098" y="4892814"/>
                        <a:ext cx="1684337" cy="779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4" name="Rectangle 2">
            <a:extLst>
              <a:ext uri="{FF2B5EF4-FFF2-40B4-BE49-F238E27FC236}">
                <a16:creationId xmlns:a16="http://schemas.microsoft.com/office/drawing/2014/main" id="{D34CC0AD-035B-4B8B-A6D5-29B4E3DC46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153400" cy="1143000"/>
          </a:xfrm>
        </p:spPr>
        <p:txBody>
          <a:bodyPr/>
          <a:lstStyle/>
          <a:p>
            <a:pPr algn="l" eaLnBrk="1" hangingPunct="1"/>
            <a:r>
              <a:rPr lang="en-US" altLang="en-US"/>
              <a:t>Dimensional analysis, examples</a:t>
            </a:r>
          </a:p>
        </p:txBody>
      </p:sp>
      <p:sp>
        <p:nvSpPr>
          <p:cNvPr id="59395" name="Text Box 3">
            <a:extLst>
              <a:ext uri="{FF2B5EF4-FFF2-40B4-BE49-F238E27FC236}">
                <a16:creationId xmlns:a16="http://schemas.microsoft.com/office/drawing/2014/main" id="{7CAAE497-BCB6-46B6-97AD-9B39A39AF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1512888"/>
            <a:ext cx="8294687" cy="2830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C82E3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1996"/>
                </a:solidFill>
              </a:rPr>
              <a:t>An individual suffering from high cholesterol has 232 mg cholesterol per 100.0 mL of blood.  How many grams of cholesterol in the blood, assuming a blood volume of 5.2 L?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</a:rPr>
              <a:t>Know:  1 L = 1000 mL, 1g = 1000mg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</a:rPr>
              <a:t>What do I need on top?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i="1" dirty="0"/>
              <a:t>grams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400" dirty="0">
                <a:solidFill>
                  <a:srgbClr val="008000"/>
                </a:solidFill>
              </a:rPr>
              <a:t>What do I need on the bottom?</a:t>
            </a:r>
            <a:r>
              <a:rPr lang="en-US" altLang="en-US" sz="2400" dirty="0">
                <a:solidFill>
                  <a:schemeClr val="tx1"/>
                </a:solidFill>
              </a:rPr>
              <a:t> </a:t>
            </a:r>
            <a:r>
              <a:rPr lang="en-US" altLang="en-US" sz="2400" i="1" dirty="0">
                <a:solidFill>
                  <a:srgbClr val="001996"/>
                </a:solidFill>
              </a:rPr>
              <a:t>patient</a:t>
            </a:r>
            <a:endParaRPr lang="en-US" altLang="en-US" sz="2400" i="1" dirty="0"/>
          </a:p>
        </p:txBody>
      </p:sp>
      <p:sp>
        <p:nvSpPr>
          <p:cNvPr id="97285" name="Line 5">
            <a:extLst>
              <a:ext uri="{FF2B5EF4-FFF2-40B4-BE49-F238E27FC236}">
                <a16:creationId xmlns:a16="http://schemas.microsoft.com/office/drawing/2014/main" id="{A1F2DFE3-7EEE-4263-875C-683868A985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6833" y="5440363"/>
            <a:ext cx="304800" cy="228600"/>
          </a:xfrm>
          <a:prstGeom prst="line">
            <a:avLst/>
          </a:prstGeom>
          <a:noFill/>
          <a:ln w="38100">
            <a:solidFill>
              <a:srgbClr val="C82E3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7286" name="Line 6">
            <a:extLst>
              <a:ext uri="{FF2B5EF4-FFF2-40B4-BE49-F238E27FC236}">
                <a16:creationId xmlns:a16="http://schemas.microsoft.com/office/drawing/2014/main" id="{A9669E5F-32DA-4B25-998B-12A19A674A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160713" y="5019951"/>
            <a:ext cx="304800" cy="228600"/>
          </a:xfrm>
          <a:prstGeom prst="line">
            <a:avLst/>
          </a:prstGeom>
          <a:noFill/>
          <a:ln w="38100">
            <a:solidFill>
              <a:srgbClr val="C82E3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7287" name="Line 7">
            <a:extLst>
              <a:ext uri="{FF2B5EF4-FFF2-40B4-BE49-F238E27FC236}">
                <a16:creationId xmlns:a16="http://schemas.microsoft.com/office/drawing/2014/main" id="{DA32150A-12BC-4E83-8A4E-0CC1D7AFD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8313" y="5410200"/>
            <a:ext cx="152400" cy="228600"/>
          </a:xfrm>
          <a:prstGeom prst="line">
            <a:avLst/>
          </a:prstGeom>
          <a:noFill/>
          <a:ln w="28575">
            <a:solidFill>
              <a:srgbClr val="FF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7288" name="Line 8">
            <a:extLst>
              <a:ext uri="{FF2B5EF4-FFF2-40B4-BE49-F238E27FC236}">
                <a16:creationId xmlns:a16="http://schemas.microsoft.com/office/drawing/2014/main" id="{DB491998-9722-4770-9883-DA405096F1C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7513" y="5051425"/>
            <a:ext cx="685800" cy="228600"/>
          </a:xfrm>
          <a:prstGeom prst="line">
            <a:avLst/>
          </a:prstGeom>
          <a:noFill/>
          <a:ln w="28575">
            <a:solidFill>
              <a:srgbClr val="FF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7289" name="Line 9">
            <a:extLst>
              <a:ext uri="{FF2B5EF4-FFF2-40B4-BE49-F238E27FC236}">
                <a16:creationId xmlns:a16="http://schemas.microsoft.com/office/drawing/2014/main" id="{8D4C4397-6629-435B-9641-0D716DEDAD3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4813" y="5051425"/>
            <a:ext cx="381000" cy="152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sp>
        <p:nvSpPr>
          <p:cNvPr id="97290" name="Line 10">
            <a:extLst>
              <a:ext uri="{FF2B5EF4-FFF2-40B4-BE49-F238E27FC236}">
                <a16:creationId xmlns:a16="http://schemas.microsoft.com/office/drawing/2014/main" id="{25A23D8A-AB3F-4F70-8848-E9B3A60BC1E9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3450" y="5478463"/>
            <a:ext cx="381000" cy="15240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A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328F4896-8A8D-48C7-B4B4-B0F5DAC37D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648618"/>
              </p:ext>
            </p:extLst>
          </p:nvPr>
        </p:nvGraphicFramePr>
        <p:xfrm>
          <a:off x="2371725" y="4852988"/>
          <a:ext cx="1382713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39" name="Equation" r:id="rId6" imgW="698400" imgH="431640" progId="Equation.KSEE3">
                  <p:embed/>
                </p:oleObj>
              </mc:Choice>
              <mc:Fallback>
                <p:oleObj name="Equation" r:id="rId6" imgW="698400" imgH="431640" progId="Equation.KSEE3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6E59E67-A35F-4CC4-8BBB-AAE98DA08F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1725" y="4852988"/>
                        <a:ext cx="1382713" cy="854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7C6A20F4-2A5A-4F60-B55A-1D17BE0B9D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1830888"/>
              </p:ext>
            </p:extLst>
          </p:nvPr>
        </p:nvGraphicFramePr>
        <p:xfrm>
          <a:off x="6692073" y="4865685"/>
          <a:ext cx="1582737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0" name="Equation" r:id="rId8" imgW="799920" imgH="419040" progId="Equation.KSEE3">
                  <p:embed/>
                </p:oleObj>
              </mc:Choice>
              <mc:Fallback>
                <p:oleObj name="Equation" r:id="rId8" imgW="799920" imgH="419040" progId="Equation.KSEE3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CC8576E5-92F7-4DAB-B23D-D6CFC3F8CA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073" y="4865685"/>
                        <a:ext cx="1582737" cy="82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>
            <a:extLst>
              <a:ext uri="{FF2B5EF4-FFF2-40B4-BE49-F238E27FC236}">
                <a16:creationId xmlns:a16="http://schemas.microsoft.com/office/drawing/2014/main" id="{1E9369D1-B284-4CB8-8AC1-657243885F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111238"/>
              </p:ext>
            </p:extLst>
          </p:nvPr>
        </p:nvGraphicFramePr>
        <p:xfrm>
          <a:off x="3627438" y="4827588"/>
          <a:ext cx="1758950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1" name="Equation" r:id="rId10" imgW="888840" imgH="457200" progId="Equation.KSEE3">
                  <p:embed/>
                </p:oleObj>
              </mc:Choice>
              <mc:Fallback>
                <p:oleObj name="Equation" r:id="rId10" imgW="888840" imgH="457200" progId="Equation.KSEE3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7C6A20F4-2A5A-4F60-B55A-1D17BE0B9D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7438" y="4827588"/>
                        <a:ext cx="1758950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286BBB81-CB94-4152-897F-7D488DA3F1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149"/>
              </p:ext>
            </p:extLst>
          </p:nvPr>
        </p:nvGraphicFramePr>
        <p:xfrm>
          <a:off x="5255661" y="4831936"/>
          <a:ext cx="138112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42" name="Equation" r:id="rId12" imgW="698400" imgH="457200" progId="Equation.KSEE3">
                  <p:embed/>
                </p:oleObj>
              </mc:Choice>
              <mc:Fallback>
                <p:oleObj name="Equation" r:id="rId12" imgW="698400" imgH="457200" progId="Equation.KSEE3">
                  <p:embed/>
                  <p:pic>
                    <p:nvPicPr>
                      <p:cNvPr id="13" name="Object 12">
                        <a:extLst>
                          <a:ext uri="{FF2B5EF4-FFF2-40B4-BE49-F238E27FC236}">
                            <a16:creationId xmlns:a16="http://schemas.microsoft.com/office/drawing/2014/main" id="{7C6A20F4-2A5A-4F60-B55A-1D17BE0B9D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5661" y="4831936"/>
                        <a:ext cx="138112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9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9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7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7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97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97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97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>
            <a:extLst>
              <a:ext uri="{FF2B5EF4-FFF2-40B4-BE49-F238E27FC236}">
                <a16:creationId xmlns:a16="http://schemas.microsoft.com/office/drawing/2014/main" id="{CD3D476E-1FEF-4AF9-AD9E-69D3B512F3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5400" b="1">
                <a:solidFill>
                  <a:schemeClr val="accent2"/>
                </a:solidFill>
              </a:rPr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3C250-68CF-42C6-B14F-B5327FBF5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19288"/>
            <a:ext cx="8229600" cy="4000500"/>
          </a:xfrm>
        </p:spPr>
        <p:txBody>
          <a:bodyPr/>
          <a:lstStyle/>
          <a:p>
            <a:r>
              <a:rPr lang="en-CA" altLang="en-US" b="1" dirty="0"/>
              <a:t>Read pp. 20-30</a:t>
            </a:r>
          </a:p>
          <a:p>
            <a:r>
              <a:rPr lang="en-CA" altLang="en-US" b="1" dirty="0"/>
              <a:t>Exercises #1.33, 1.35, 1.37, 1.39, 1.45, 1.51.</a:t>
            </a:r>
          </a:p>
          <a:p>
            <a:r>
              <a:rPr lang="en-CA" altLang="en-US" b="1" dirty="0"/>
              <a:t>Sig Figs Handout</a:t>
            </a:r>
          </a:p>
          <a:p>
            <a:r>
              <a:rPr lang="en-CA" altLang="en-US" dirty="0">
                <a:sym typeface="Wingdings" panose="05000000000000000000" pitchFamily="2" charset="2"/>
              </a:rPr>
              <a:t></a:t>
            </a: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65" charset="0"/>
            <a:ea typeface="ＭＳ Ｐゴシック" pitchFamily="-65" charset="-128"/>
            <a:cs typeface="ＭＳ Ｐゴシック" pitchFamily="-65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35531</TotalTime>
  <Words>623</Words>
  <Application>Microsoft Office PowerPoint</Application>
  <PresentationFormat>On-screen Show (4:3)</PresentationFormat>
  <Paragraphs>99</Paragraphs>
  <Slides>18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Berlin Sans FB Demi</vt:lpstr>
      <vt:lpstr>Cooper Std Black</vt:lpstr>
      <vt:lpstr>Times New Roman</vt:lpstr>
      <vt:lpstr>Blank Presentation</vt:lpstr>
      <vt:lpstr>Equation</vt:lpstr>
      <vt:lpstr>WPS Equation 3.0</vt:lpstr>
      <vt:lpstr>Chapter 1 1.5 Uncertainty in Measurement &amp; Dimensional Analysis</vt:lpstr>
      <vt:lpstr>PowerPoint Presentation</vt:lpstr>
      <vt:lpstr>Uncertainty in Measurements</vt:lpstr>
      <vt:lpstr>Uncertainty in Measurements</vt:lpstr>
      <vt:lpstr>Uncertainty in Measurements</vt:lpstr>
      <vt:lpstr>Exact versus inexact numbers</vt:lpstr>
      <vt:lpstr>Significant Figures</vt:lpstr>
      <vt:lpstr>Rules for Significant Figures</vt:lpstr>
      <vt:lpstr>Significant Figures</vt:lpstr>
      <vt:lpstr>Accuracy versus Precision</vt:lpstr>
      <vt:lpstr>1.6 Dimensional Analysis</vt:lpstr>
      <vt:lpstr>Dimensional analysis</vt:lpstr>
      <vt:lpstr>Dimensional analysis</vt:lpstr>
      <vt:lpstr>Dimensional Analysis</vt:lpstr>
      <vt:lpstr>Dimensional analysis, examples</vt:lpstr>
      <vt:lpstr>Dimensional analysis, examples</vt:lpstr>
      <vt:lpstr>Dimensional analysis, examples</vt:lpstr>
      <vt:lpstr>Homework</vt:lpstr>
    </vt:vector>
  </TitlesOfParts>
  <Company>msu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Introduction: Matter and Measurement</dc:title>
  <dc:creator>jjwilson</dc:creator>
  <cp:lastModifiedBy>Wilson, Joanna (Marshall McLuhan)</cp:lastModifiedBy>
  <cp:revision>197</cp:revision>
  <cp:lastPrinted>2010-09-08T14:47:32Z</cp:lastPrinted>
  <dcterms:created xsi:type="dcterms:W3CDTF">2009-09-08T15:32:17Z</dcterms:created>
  <dcterms:modified xsi:type="dcterms:W3CDTF">2019-09-04T00:36:57Z</dcterms:modified>
</cp:coreProperties>
</file>